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5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2880360"/>
            <a:ext cx="12191695" cy="1097280"/>
          </a:xfrm>
          <a:prstGeom prst="round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v_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3248" y="777240"/>
            <a:ext cx="1371600" cy="1371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2194560"/>
            <a:ext cx="103327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6600" b="1">
                <a:solidFill>
                  <a:srgbClr val="00C896"/>
                </a:solidFill>
                <a:latin typeface="Segoe UI"/>
              </a:rPr>
              <a:t>MV Kobra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383280"/>
            <a:ext cx="103327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0">
                <a:solidFill>
                  <a:srgbClr val="EAF1FB"/>
                </a:solidFill>
                <a:latin typeface="Segoe UI"/>
              </a:rPr>
              <a:t>Plataforma de Cobranzas Inteligentes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114800"/>
            <a:ext cx="103327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700" b="0">
                <a:solidFill>
                  <a:srgbClr val="9DB0C8"/>
                </a:solidFill>
                <a:latin typeface="Segoe UI"/>
              </a:rPr>
              <a:t>ProbPago · Agente IA Negociador · Priorización por valor esperado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603504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9DB0C8"/>
                </a:solidFill>
                <a:latin typeface="Segoe UI"/>
              </a:rPr>
              <a:t>Propuesta gerencial · Uruguay · Demo con datos sintéticos (sin datos de clientes)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5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EAF1FB"/>
                </a:solidFill>
                <a:latin typeface="Segoe UI"/>
              </a:rPr>
              <a:t>El problema de la cobranza tradicional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280160"/>
            <a:ext cx="137160" cy="640080"/>
          </a:xfrm>
          <a:prstGeom prst="roundRect">
            <a:avLst/>
          </a:prstGeom>
          <a:solidFill>
            <a:srgbClr val="00C8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000">
                <a:solidFill>
                  <a:srgbClr val="9DB0C8"/>
                </a:solidFill>
                <a:latin typeface="Segoe UI"/>
              </a:rPr>
              <a:t>▸  Se gestiona por igual a todos los deudores → se malgasta tiempo en casos irrecuperables.</a:t>
            </a:r>
          </a:p>
          <a:p>
            <a:pPr>
              <a:spcAft>
                <a:spcPts val="1400"/>
              </a:spcAft>
            </a:pPr>
            <a:r>
              <a:rPr sz="2000">
                <a:solidFill>
                  <a:srgbClr val="9DB0C8"/>
                </a:solidFill>
                <a:latin typeface="Segoe UI"/>
              </a:rPr>
              <a:t>▸  Las decisiones de descuento y planes se toman "a ojo", sin datos.</a:t>
            </a:r>
          </a:p>
          <a:p>
            <a:pPr>
              <a:spcAft>
                <a:spcPts val="1400"/>
              </a:spcAft>
            </a:pPr>
            <a:r>
              <a:rPr sz="2000">
                <a:solidFill>
                  <a:srgbClr val="9DB0C8"/>
                </a:solidFill>
                <a:latin typeface="Segoe UI"/>
              </a:rPr>
              <a:t>▸  No se sabe a quién llamar primero ni por qué canal.</a:t>
            </a:r>
          </a:p>
          <a:p>
            <a:pPr>
              <a:spcAft>
                <a:spcPts val="1400"/>
              </a:spcAft>
            </a:pPr>
            <a:r>
              <a:rPr sz="2000">
                <a:solidFill>
                  <a:srgbClr val="9DB0C8"/>
                </a:solidFill>
                <a:latin typeface="Segoe UI"/>
              </a:rPr>
              <a:t>▸  Los guiones de negociación no están estandarizados ni optimizados.</a:t>
            </a:r>
          </a:p>
          <a:p>
            <a:pPr>
              <a:spcAft>
                <a:spcPts val="1400"/>
              </a:spcAft>
            </a:pPr>
            <a:r>
              <a:rPr sz="2000">
                <a:solidFill>
                  <a:srgbClr val="9DB0C8"/>
                </a:solidFill>
                <a:latin typeface="Segoe UI"/>
              </a:rPr>
              <a:t>▸  El reporting gerencial es lento, manual y poco accionable.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76072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F2B441"/>
                </a:solidFill>
                <a:latin typeface="Segoe UI"/>
              </a:rPr>
              <a:t>Resultado: menor recupero, más costo operativo y peor experiencia del cliente.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5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EAF1FB"/>
                </a:solidFill>
                <a:latin typeface="Segoe UI"/>
              </a:rPr>
              <a:t>La solución: MV Kobra AI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280160"/>
            <a:ext cx="137160" cy="640080"/>
          </a:xfrm>
          <a:prstGeom prst="roundRect">
            <a:avLst/>
          </a:prstGeom>
          <a:solidFill>
            <a:srgbClr val="00C8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1920240"/>
            <a:ext cx="3566160" cy="3840480"/>
          </a:xfrm>
          <a:prstGeom prst="roundRect">
            <a:avLst/>
          </a:prstGeom>
          <a:solidFill>
            <a:srgbClr val="0E1E34"/>
          </a:solidFill>
          <a:ln w="12700">
            <a:solidFill>
              <a:srgbClr val="00C89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240280"/>
            <a:ext cx="30175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00C896"/>
                </a:solidFill>
                <a:latin typeface="Segoe UI"/>
              </a:rPr>
              <a:t>🧠 ProbPago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200400"/>
            <a:ext cx="301752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EAF1FB"/>
                </a:solidFill>
                <a:latin typeface="Segoe UI"/>
              </a:rPr>
              <a:t>Modelo de Machine Learning que estima la probabilidad de pago de cada deudor. Selección de modelos con validación cruzada + calibración.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029200"/>
            <a:ext cx="30175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0C896"/>
                </a:solidFill>
                <a:latin typeface="Segoe UI"/>
              </a:rPr>
              <a:t>Se entrena y valida con la cartera real del cliente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34840" y="1920240"/>
            <a:ext cx="3566160" cy="3840480"/>
          </a:xfrm>
          <a:prstGeom prst="roundRect">
            <a:avLst/>
          </a:prstGeom>
          <a:solidFill>
            <a:srgbClr val="0E1E34"/>
          </a:solidFill>
          <a:ln w="12700">
            <a:solidFill>
              <a:srgbClr val="2F74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09160" y="2240280"/>
            <a:ext cx="30175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2F74C0"/>
                </a:solidFill>
                <a:latin typeface="Segoe UI"/>
              </a:rPr>
              <a:t>🤖 Agente + Copiloto en Vivo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09160" y="3200400"/>
            <a:ext cx="301752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EAF1FB"/>
                </a:solidFill>
                <a:latin typeface="Segoe UI"/>
              </a:rPr>
              <a:t>Recomienda estrategia, descuento, canal y guion. En vivo: analiza el sentimiento del cliente (voz/WhatsApp) y asesora al gestor en tiempo real.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09160" y="5029200"/>
            <a:ext cx="30175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2F74C0"/>
                </a:solidFill>
                <a:latin typeface="Segoe UI"/>
              </a:rPr>
              <a:t>Maximiza recupero minimizando la quita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0" y="1920240"/>
            <a:ext cx="3566160" cy="3840480"/>
          </a:xfrm>
          <a:prstGeom prst="roundRect">
            <a:avLst/>
          </a:prstGeom>
          <a:solidFill>
            <a:srgbClr val="0E1E34"/>
          </a:solidFill>
          <a:ln w="12700">
            <a:solidFill>
              <a:srgbClr val="F2B4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03920" y="2240280"/>
            <a:ext cx="30175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F2B441"/>
                </a:solidFill>
                <a:latin typeface="Segoe UI"/>
              </a:rPr>
              <a:t>📊 Dashboard Gerencial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0" y="3200400"/>
            <a:ext cx="301752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EAF1FB"/>
                </a:solidFill>
                <a:latin typeface="Segoe UI"/>
              </a:rPr>
              <a:t>KPIs, filtros, gráficos y priorización de cartera por valor esperado de recupero.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5029200"/>
            <a:ext cx="30175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2B441"/>
                </a:solidFill>
                <a:latin typeface="Segoe UI"/>
              </a:rPr>
              <a:t>Exportable a Excel / CSV para reporting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5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EAF1FB"/>
                </a:solidFill>
                <a:latin typeface="Segoe UI"/>
              </a:rPr>
              <a:t>Cómo funciona · flujo end-to-end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280160"/>
            <a:ext cx="137160" cy="640080"/>
          </a:xfrm>
          <a:prstGeom prst="roundRect">
            <a:avLst/>
          </a:prstGeom>
          <a:solidFill>
            <a:srgbClr val="00C8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1920240"/>
            <a:ext cx="2926080" cy="749808"/>
          </a:xfrm>
          <a:prstGeom prst="roundRect">
            <a:avLst/>
          </a:prstGeom>
          <a:solidFill>
            <a:srgbClr val="0E1E34"/>
          </a:solidFill>
          <a:ln w="12700">
            <a:solidFill>
              <a:srgbClr val="00C89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029968"/>
            <a:ext cx="2743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00C896"/>
                </a:solidFill>
                <a:latin typeface="Segoe UI"/>
              </a:rPr>
              <a:t>1 · Cartera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0" y="2029968"/>
            <a:ext cx="7315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EAF1FB"/>
                </a:solidFill>
                <a:latin typeface="Segoe UI"/>
              </a:rPr>
              <a:t>Se carga la base de deudores (o se conecta al core).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816352"/>
            <a:ext cx="2926080" cy="749808"/>
          </a:xfrm>
          <a:prstGeom prst="roundRect">
            <a:avLst/>
          </a:prstGeom>
          <a:solidFill>
            <a:srgbClr val="0E1E34"/>
          </a:solidFill>
          <a:ln w="12700">
            <a:solidFill>
              <a:srgbClr val="2F74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926080"/>
            <a:ext cx="2743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2F74C0"/>
                </a:solidFill>
                <a:latin typeface="Segoe UI"/>
              </a:rPr>
              <a:t>2 · ProbPago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23360" y="2926080"/>
            <a:ext cx="7315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EAF1FB"/>
                </a:solidFill>
                <a:latin typeface="Segoe UI"/>
              </a:rPr>
              <a:t>El modelo asigna probabilidad de pago a cada caso.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712464"/>
            <a:ext cx="2926080" cy="749808"/>
          </a:xfrm>
          <a:prstGeom prst="roundRect">
            <a:avLst/>
          </a:prstGeom>
          <a:solidFill>
            <a:srgbClr val="0E1E34"/>
          </a:solidFill>
          <a:ln w="12700">
            <a:solidFill>
              <a:srgbClr val="F2B4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822192"/>
            <a:ext cx="2743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F2B441"/>
                </a:solidFill>
                <a:latin typeface="Segoe UI"/>
              </a:rPr>
              <a:t>3 · Negociador IA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23360" y="3822192"/>
            <a:ext cx="7315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EAF1FB"/>
                </a:solidFill>
                <a:latin typeface="Segoe UI"/>
              </a:rPr>
              <a:t>Define estrategia, descuento, canal y guion.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4608576"/>
            <a:ext cx="2926080" cy="749808"/>
          </a:xfrm>
          <a:prstGeom prst="roundRect">
            <a:avLst/>
          </a:prstGeom>
          <a:solidFill>
            <a:srgbClr val="0E1E34"/>
          </a:solidFill>
          <a:ln w="12700">
            <a:solidFill>
              <a:srgbClr val="00C89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4718304"/>
            <a:ext cx="2743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00C896"/>
                </a:solidFill>
                <a:latin typeface="Segoe UI"/>
              </a:rPr>
              <a:t>4 · Priorización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23360" y="4718304"/>
            <a:ext cx="7315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EAF1FB"/>
                </a:solidFill>
                <a:latin typeface="Segoe UI"/>
              </a:rPr>
              <a:t>Ordena por valor esperado de recupero (UYU).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5504688"/>
            <a:ext cx="2926080" cy="749808"/>
          </a:xfrm>
          <a:prstGeom prst="roundRect">
            <a:avLst/>
          </a:prstGeom>
          <a:solidFill>
            <a:srgbClr val="0E1E34"/>
          </a:solidFill>
          <a:ln w="12700">
            <a:solidFill>
              <a:srgbClr val="2F74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5614416"/>
            <a:ext cx="2743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2F74C0"/>
                </a:solidFill>
                <a:latin typeface="Segoe UI"/>
              </a:rPr>
              <a:t>5 · Acción + Reporting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23360" y="5614416"/>
            <a:ext cx="7315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EAF1FB"/>
                </a:solidFill>
                <a:latin typeface="Segoe UI"/>
              </a:rPr>
              <a:t>Gestores ejecutan; gerencia mide en el dashboard.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5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EAF1FB"/>
                </a:solidFill>
                <a:latin typeface="Segoe UI"/>
              </a:rPr>
              <a:t>Impacto sobre la cartera (demo)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280160"/>
            <a:ext cx="137160" cy="640080"/>
          </a:xfrm>
          <a:prstGeom prst="roundRect">
            <a:avLst/>
          </a:prstGeom>
          <a:solidFill>
            <a:srgbClr val="00C8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1920240"/>
            <a:ext cx="3566160" cy="1737360"/>
          </a:xfrm>
          <a:prstGeom prst="roundRect">
            <a:avLst/>
          </a:prstGeom>
          <a:solidFill>
            <a:srgbClr val="0E1E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19456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400" b="1">
                <a:solidFill>
                  <a:srgbClr val="00C896"/>
                </a:solidFill>
                <a:latin typeface="Segoe UI"/>
              </a:rPr>
              <a:t>12,000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063240"/>
            <a:ext cx="3566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solidFill>
                  <a:srgbClr val="9DB0C8"/>
                </a:solidFill>
                <a:latin typeface="Segoe UI"/>
              </a:rPr>
              <a:t>Deudores analizados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34840" y="1920240"/>
            <a:ext cx="3566160" cy="1737360"/>
          </a:xfrm>
          <a:prstGeom prst="roundRect">
            <a:avLst/>
          </a:prstGeom>
          <a:solidFill>
            <a:srgbClr val="0E1E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34840" y="219456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400" b="1">
                <a:solidFill>
                  <a:srgbClr val="EAF1FB"/>
                </a:solidFill>
                <a:latin typeface="Segoe UI"/>
              </a:rPr>
              <a:t>$U 1,790.0M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34840" y="3063240"/>
            <a:ext cx="3566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solidFill>
                  <a:srgbClr val="9DB0C8"/>
                </a:solidFill>
                <a:latin typeface="Segoe UI"/>
              </a:rPr>
              <a:t>Cartera total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0" y="1920240"/>
            <a:ext cx="3566160" cy="1737360"/>
          </a:xfrm>
          <a:prstGeom prst="roundRect">
            <a:avLst/>
          </a:prstGeom>
          <a:solidFill>
            <a:srgbClr val="0E1E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0" y="219456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400" b="1">
                <a:solidFill>
                  <a:srgbClr val="00C896"/>
                </a:solidFill>
                <a:latin typeface="Segoe UI"/>
              </a:rPr>
              <a:t>$U 861.6M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0" y="3063240"/>
            <a:ext cx="3566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solidFill>
                  <a:srgbClr val="9DB0C8"/>
                </a:solidFill>
                <a:latin typeface="Segoe UI"/>
              </a:rPr>
              <a:t>Recupero esperado (48%)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931920"/>
            <a:ext cx="3566160" cy="1737360"/>
          </a:xfrm>
          <a:prstGeom prst="roundRect">
            <a:avLst/>
          </a:prstGeom>
          <a:solidFill>
            <a:srgbClr val="0E1E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420624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400" b="1">
                <a:solidFill>
                  <a:srgbClr val="2F74C0"/>
                </a:solidFill>
                <a:latin typeface="Segoe UI"/>
              </a:rPr>
              <a:t>59%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074920"/>
            <a:ext cx="3566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solidFill>
                  <a:srgbClr val="9DB0C8"/>
                </a:solidFill>
                <a:latin typeface="Segoe UI"/>
              </a:rPr>
              <a:t>ProbPago promedio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434840" y="3931920"/>
            <a:ext cx="3566160" cy="1737360"/>
          </a:xfrm>
          <a:prstGeom prst="roundRect">
            <a:avLst/>
          </a:prstGeom>
          <a:solidFill>
            <a:srgbClr val="0E1E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34840" y="420624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400" b="1">
                <a:solidFill>
                  <a:srgbClr val="F2B441"/>
                </a:solidFill>
                <a:latin typeface="Segoe UI"/>
              </a:rPr>
              <a:t>$U 636.6M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34840" y="5074920"/>
            <a:ext cx="3566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solidFill>
                  <a:srgbClr val="9DB0C8"/>
                </a:solidFill>
                <a:latin typeface="Segoe UI"/>
              </a:rPr>
              <a:t>Cartera en riesgo (baja prop.)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29600" y="3931920"/>
            <a:ext cx="3566160" cy="1737360"/>
          </a:xfrm>
          <a:prstGeom prst="roundRect">
            <a:avLst/>
          </a:prstGeom>
          <a:solidFill>
            <a:srgbClr val="0E1E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0" y="420624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400" b="1">
                <a:solidFill>
                  <a:srgbClr val="00C896"/>
                </a:solidFill>
                <a:latin typeface="Segoe UI"/>
              </a:rPr>
              <a:t>1.69x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0" y="5074920"/>
            <a:ext cx="3566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solidFill>
                  <a:srgbClr val="9DB0C8"/>
                </a:solidFill>
                <a:latin typeface="Segoe UI"/>
              </a:rPr>
              <a:t>Lift del top decil vs. base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612648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solidFill>
                  <a:srgbClr val="9DB0C8"/>
                </a:solidFill>
                <a:latin typeface="Segoe UI"/>
              </a:rPr>
              <a:t>Datos sintéticos ilustrativos: muestran cómo MV Kobra AI prioriza el esfuerzo donde está el valor recuperable. Con la cartera real, estos KPIs se calculan de verdad.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5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0C896"/>
                </a:solidFill>
                <a:latin typeface="Segoe UI"/>
              </a:rPr>
              <a:t>Dashboard · Visión general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1440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DB0C8"/>
                </a:solidFill>
                <a:latin typeface="Segoe UI"/>
              </a:rPr>
              <a:t>KPIs en vivo, filtros dinámicos y gráficos de cartera vs. recupero.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417320"/>
            <a:ext cx="11201400" cy="5074920"/>
          </a:xfrm>
          <a:prstGeom prst="roundRect">
            <a:avLst/>
          </a:prstGeom>
          <a:noFill/>
          <a:ln w="12700">
            <a:solidFill>
              <a:srgbClr val="2F74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dashboard_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554480"/>
            <a:ext cx="10927080" cy="7512367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5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0C896"/>
                </a:solidFill>
                <a:latin typeface="Segoe UI"/>
              </a:rPr>
              <a:t>Agente IA Negociador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1440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DB0C8"/>
                </a:solidFill>
                <a:latin typeface="Segoe UI"/>
              </a:rPr>
              <a:t>Estrategias recomendadas y simulador de negociación con guion por deudor.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417320"/>
            <a:ext cx="11201400" cy="5074920"/>
          </a:xfrm>
          <a:prstGeom prst="roundRect">
            <a:avLst/>
          </a:prstGeom>
          <a:noFill/>
          <a:ln w="12700">
            <a:solidFill>
              <a:srgbClr val="2F74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dashboard_negociad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554480"/>
            <a:ext cx="10927080" cy="7512367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5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0C896"/>
                </a:solidFill>
                <a:latin typeface="Segoe UI"/>
              </a:rPr>
              <a:t>Cartera priorizada + Export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1440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DB0C8"/>
                </a:solidFill>
                <a:latin typeface="Segoe UI"/>
              </a:rPr>
              <a:t>Ranking por valor esperado y exportación a Excel/CSV para reporting.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417320"/>
            <a:ext cx="11201400" cy="5074920"/>
          </a:xfrm>
          <a:prstGeom prst="roundRect">
            <a:avLst/>
          </a:prstGeom>
          <a:noFill/>
          <a:ln w="12700">
            <a:solidFill>
              <a:srgbClr val="2F74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dashboard_carte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554480"/>
            <a:ext cx="10927080" cy="7512367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5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0C896"/>
                </a:solidFill>
                <a:latin typeface="Segoe UI"/>
              </a:rPr>
              <a:t>Copiloto de Negociación en Vivo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1440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DB0C8"/>
                </a:solidFill>
                <a:latin typeface="Segoe UI"/>
              </a:rPr>
              <a:t>Sentimiento del cliente turno a turno, técnicas del gestor y la próxima jugada sugerida.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417320"/>
            <a:ext cx="11201400" cy="5074920"/>
          </a:xfrm>
          <a:prstGeom prst="roundRect">
            <a:avLst/>
          </a:prstGeom>
          <a:noFill/>
          <a:ln w="12700">
            <a:solidFill>
              <a:srgbClr val="2F74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dashboard_copiloto_detal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554480"/>
            <a:ext cx="10927080" cy="6829425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5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0C896"/>
                </a:solidFill>
                <a:latin typeface="Segoe UI"/>
              </a:rPr>
              <a:t>Asistencia en vivo durante la llamada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1440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DB0C8"/>
                </a:solidFill>
                <a:latin typeface="Segoe UI"/>
              </a:rPr>
              <a:t>Escucha la llamada telefónica, transcribe y asesora al gestor en tiempo real.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417320"/>
            <a:ext cx="11201400" cy="5074920"/>
          </a:xfrm>
          <a:prstGeom prst="roundRect">
            <a:avLst/>
          </a:prstGeom>
          <a:noFill/>
          <a:ln w="12700">
            <a:solidFill>
              <a:srgbClr val="2F74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realtime_copilo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554480"/>
            <a:ext cx="10927080" cy="728472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5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0C896"/>
                </a:solidFill>
                <a:latin typeface="Segoe UI"/>
              </a:rPr>
              <a:t>Voz: diarización + emoción acústica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1440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DB0C8"/>
                </a:solidFill>
                <a:latin typeface="Segoe UI"/>
              </a:rPr>
              <a:t>Separa quién habla y detecta la tensión del cliente en la voz, más allá de las palabras.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417320"/>
            <a:ext cx="11201400" cy="5074920"/>
          </a:xfrm>
          <a:prstGeom prst="roundRect">
            <a:avLst/>
          </a:prstGeom>
          <a:noFill/>
          <a:ln w="12700">
            <a:solidFill>
              <a:srgbClr val="2F74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dashboard_voz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554480"/>
            <a:ext cx="10927080" cy="7170896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5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0C896"/>
                </a:solidFill>
                <a:latin typeface="Segoe UI"/>
              </a:rPr>
              <a:t>Integración telefónica + transcripción por hablante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1440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DB0C8"/>
                </a:solidFill>
                <a:latin typeface="Segoe UI"/>
              </a:rPr>
              <a:t>Conecta al audio de la central (Avaya, Genesys…); transcribe por hablante y fusiona voz + texto.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417320"/>
            <a:ext cx="11201400" cy="5074920"/>
          </a:xfrm>
          <a:prstGeom prst="roundRect">
            <a:avLst/>
          </a:prstGeom>
          <a:noFill/>
          <a:ln w="12700">
            <a:solidFill>
              <a:srgbClr val="2F74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realtime_telefon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554480"/>
            <a:ext cx="10927080" cy="8253588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5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0C896"/>
                </a:solidFill>
                <a:latin typeface="Segoe UI"/>
              </a:rPr>
              <a:t>Streaming en vivo durante la llamada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1440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DB0C8"/>
                </a:solidFill>
                <a:latin typeface="Segoe UI"/>
              </a:rPr>
              <a:t>SIPREC / Twilio Media Streams / Avaya DMCC: asesoría turno a turno mientras la llamada ocurre.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417320"/>
            <a:ext cx="11201400" cy="5074920"/>
          </a:xfrm>
          <a:prstGeom prst="roundRect">
            <a:avLst/>
          </a:prstGeom>
          <a:noFill/>
          <a:ln w="12700">
            <a:solidFill>
              <a:srgbClr val="2F74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realtime_stre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554480"/>
            <a:ext cx="10927080" cy="10326091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5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0C896"/>
                </a:solidFill>
                <a:latin typeface="Segoe UI"/>
              </a:rPr>
              <a:t>Gestores &amp; Evolución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1440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DB0C8"/>
                </a:solidFill>
                <a:latin typeface="Segoe UI"/>
              </a:rPr>
              <a:t>Impacto de MV Kobra AI en calidad, conversión y recupero; evolución mes a mes por gestor.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417320"/>
            <a:ext cx="11201400" cy="5074920"/>
          </a:xfrm>
          <a:prstGeom prst="roundRect">
            <a:avLst/>
          </a:prstGeom>
          <a:noFill/>
          <a:ln w="12700">
            <a:solidFill>
              <a:srgbClr val="2F74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dashboard_gesto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554480"/>
            <a:ext cx="10927080" cy="9561195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5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EAF1FB"/>
                </a:solidFill>
                <a:latin typeface="Segoe UI"/>
              </a:rPr>
              <a:t>Cómo se mide el impacto de MV Kobra AI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280160"/>
            <a:ext cx="137160" cy="640080"/>
          </a:xfrm>
          <a:prstGeom prst="roundRect">
            <a:avLst/>
          </a:prstGeom>
          <a:solidFill>
            <a:srgbClr val="00C8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F2B441"/>
                </a:solidFill>
                <a:latin typeface="Segoe UI"/>
              </a:rPr>
              <a:t>Metodología: gestores con MV Kobra AI vs. grupo de control, mismo período. Cifras ILUSTRATIVAS sobre datos sintéticos — no son resultados medidos.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377440"/>
            <a:ext cx="3566160" cy="2194560"/>
          </a:xfrm>
          <a:prstGeom prst="roundRect">
            <a:avLst/>
          </a:prstGeom>
          <a:solidFill>
            <a:srgbClr val="0E1E34"/>
          </a:solidFill>
          <a:ln w="12700">
            <a:solidFill>
              <a:srgbClr val="00C89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880360"/>
            <a:ext cx="35661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400" b="1">
                <a:solidFill>
                  <a:srgbClr val="00C896"/>
                </a:solidFill>
                <a:latin typeface="Segoe UI"/>
              </a:rPr>
              <a:t>+14.9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931920"/>
            <a:ext cx="3566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0">
                <a:solidFill>
                  <a:srgbClr val="9DB0C8"/>
                </a:solidFill>
                <a:latin typeface="Segoe UI"/>
              </a:rPr>
              <a:t>puntos de calidad de gestión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34840" y="2377440"/>
            <a:ext cx="3566160" cy="2194560"/>
          </a:xfrm>
          <a:prstGeom prst="roundRect">
            <a:avLst/>
          </a:prstGeom>
          <a:solidFill>
            <a:srgbClr val="0E1E34"/>
          </a:solidFill>
          <a:ln w="12700">
            <a:solidFill>
              <a:srgbClr val="2F74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34840" y="2880360"/>
            <a:ext cx="35661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400" b="1">
                <a:solidFill>
                  <a:srgbClr val="2F74C0"/>
                </a:solidFill>
                <a:latin typeface="Segoe UI"/>
              </a:rPr>
              <a:t>+7.6 pp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34840" y="3931920"/>
            <a:ext cx="3566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0">
                <a:solidFill>
                  <a:srgbClr val="9DB0C8"/>
                </a:solidFill>
                <a:latin typeface="Segoe UI"/>
              </a:rPr>
              <a:t>tasa de conversión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0" y="2377440"/>
            <a:ext cx="3566160" cy="2194560"/>
          </a:xfrm>
          <a:prstGeom prst="roundRect">
            <a:avLst/>
          </a:prstGeom>
          <a:solidFill>
            <a:srgbClr val="0E1E34"/>
          </a:solidFill>
          <a:ln w="12700">
            <a:solidFill>
              <a:srgbClr val="F2B4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0" y="2880360"/>
            <a:ext cx="35661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400" b="1">
                <a:solidFill>
                  <a:srgbClr val="F2B441"/>
                </a:solidFill>
                <a:latin typeface="Segoe UI"/>
              </a:rPr>
              <a:t>+5.6 pp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3931920"/>
            <a:ext cx="3566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0">
                <a:solidFill>
                  <a:srgbClr val="9DB0C8"/>
                </a:solidFill>
                <a:latin typeface="Segoe UI"/>
              </a:rPr>
              <a:t>tasa de recupero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512064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solidFill>
                  <a:srgbClr val="EAF1FB"/>
                </a:solidFill>
                <a:latin typeface="Segoe UI"/>
              </a:rPr>
              <a:t>Con MV Kobra AI: calidad 74 · conversión 70% · recupero 45%   |   Sin MV Kobra AI: calidad 60 · conversión 63% · recupero 40%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585216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solidFill>
                  <a:srgbClr val="00C896"/>
                </a:solidFill>
                <a:latin typeface="Segoe UI"/>
              </a:rPr>
              <a:t>En un piloto real, este mismo análisis (control vs. adopción) produce el impacto MEDIDO — esa es la evidencia que se presenta, no esta simulación.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5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EAF1FB"/>
                </a:solidFill>
                <a:latin typeface="Segoe UI"/>
              </a:rPr>
              <a:t>Por qué MV Kobra AI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280160"/>
            <a:ext cx="137160" cy="640080"/>
          </a:xfrm>
          <a:prstGeom prst="roundRect">
            <a:avLst/>
          </a:prstGeom>
          <a:solidFill>
            <a:srgbClr val="00C8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900">
                <a:solidFill>
                  <a:srgbClr val="00C896"/>
                </a:solidFill>
                <a:latin typeface="Segoe UI"/>
              </a:rPr>
              <a:t>▸  Más recupero: prioriza por valor esperado, no por antigüedad de la deuda.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00C896"/>
                </a:solidFill>
                <a:latin typeface="Segoe UI"/>
              </a:rPr>
              <a:t>▸  Asistencia en vivo: análisis de sentimiento de voz/WhatsApp que guía al gestor en la negociación.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00C896"/>
                </a:solidFill>
                <a:latin typeface="Segoe UI"/>
              </a:rPr>
              <a:t>▸  Menos costo: automatiza estrategia y guiones; el gestor solo ejecuta.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00C896"/>
                </a:solidFill>
                <a:latin typeface="Segoe UI"/>
              </a:rPr>
              <a:t>▸  Decisiones con datos: ML de probabilidad de pago con selección de modelos y calibración.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00C896"/>
                </a:solidFill>
                <a:latin typeface="Segoe UI"/>
              </a:rPr>
              <a:t>▸  Listo para Uruguay: pensado para el mercado local, sin datos personales sensibles.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00C896"/>
                </a:solidFill>
                <a:latin typeface="Segoe UI"/>
              </a:rPr>
              <a:t>▸  Agnóstico de industria: banca, financieras, retail, telco, utilities, fintech.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5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EAF1FB"/>
                </a:solidFill>
                <a:latin typeface="Segoe UI"/>
              </a:rPr>
              <a:t>Listo para producción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280160"/>
            <a:ext cx="137160" cy="640080"/>
          </a:xfrm>
          <a:prstGeom prst="roundRect">
            <a:avLst/>
          </a:prstGeom>
          <a:solidFill>
            <a:srgbClr val="00C8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1828800"/>
            <a:ext cx="4206240" cy="786384"/>
          </a:xfrm>
          <a:prstGeom prst="roundRect">
            <a:avLst/>
          </a:prstGeom>
          <a:solidFill>
            <a:srgbClr val="0E1E34"/>
          </a:solidFill>
          <a:ln w="12700">
            <a:solidFill>
              <a:srgbClr val="00C89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975104"/>
            <a:ext cx="39319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0C896"/>
                </a:solidFill>
                <a:latin typeface="Segoe UI"/>
              </a:rPr>
              <a:t>🐳 Despliegue en 1 comando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0" y="1920240"/>
            <a:ext cx="6217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EAF1FB"/>
                </a:solidFill>
                <a:latin typeface="Segoe UI"/>
              </a:rPr>
              <a:t>docker compose up: dashboard + servicio de audio en vivo, con datos y modelo autogenerados.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724912"/>
            <a:ext cx="4206240" cy="786384"/>
          </a:xfrm>
          <a:prstGeom prst="roundRect">
            <a:avLst/>
          </a:prstGeom>
          <a:solidFill>
            <a:srgbClr val="0E1E34"/>
          </a:solidFill>
          <a:ln w="12700">
            <a:solidFill>
              <a:srgbClr val="00C89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871216"/>
            <a:ext cx="39319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0C896"/>
                </a:solidFill>
                <a:latin typeface="Segoe UI"/>
              </a:rPr>
              <a:t>🔑 API keys persistentes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0" y="2816352"/>
            <a:ext cx="6217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EAF1FB"/>
                </a:solidFill>
                <a:latin typeface="Segoe UI"/>
              </a:rPr>
              <a:t>Se cargan una vez desde la pestaña Configuración (o por variables de entorno) y quedan guardadas.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621024"/>
            <a:ext cx="4206240" cy="786384"/>
          </a:xfrm>
          <a:prstGeom prst="roundRect">
            <a:avLst/>
          </a:prstGeom>
          <a:solidFill>
            <a:srgbClr val="0E1E34"/>
          </a:solidFill>
          <a:ln w="12700">
            <a:solidFill>
              <a:srgbClr val="00C89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767328"/>
            <a:ext cx="39319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0C896"/>
                </a:solidFill>
                <a:latin typeface="Segoe UI"/>
              </a:rPr>
              <a:t>☎️ Integración telefónica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0" y="3712464"/>
            <a:ext cx="6217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EAF1FB"/>
                </a:solidFill>
                <a:latin typeface="Segoe UI"/>
              </a:rPr>
              <a:t>Conectores para Avaya/Genesys/Twilio (SIPREC · Media Streams · DMCC) — grabación o streaming en vivo.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4517136"/>
            <a:ext cx="4206240" cy="786384"/>
          </a:xfrm>
          <a:prstGeom prst="roundRect">
            <a:avLst/>
          </a:prstGeom>
          <a:solidFill>
            <a:srgbClr val="0E1E34"/>
          </a:solidFill>
          <a:ln w="12700">
            <a:solidFill>
              <a:srgbClr val="00C89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4663440"/>
            <a:ext cx="39319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0C896"/>
                </a:solidFill>
                <a:latin typeface="Segoe UI"/>
              </a:rPr>
              <a:t>✅ Calidad asegurada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0" y="4608576"/>
            <a:ext cx="6217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EAF1FB"/>
                </a:solidFill>
                <a:latin typeface="Segoe UI"/>
              </a:rPr>
              <a:t>Suite de tests + CI (GitHub Actions) y reentrenamiento programado del modelo ProbPago.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5413248"/>
            <a:ext cx="4206240" cy="786384"/>
          </a:xfrm>
          <a:prstGeom prst="roundRect">
            <a:avLst/>
          </a:prstGeom>
          <a:solidFill>
            <a:srgbClr val="0E1E34"/>
          </a:solidFill>
          <a:ln w="12700">
            <a:solidFill>
              <a:srgbClr val="00C89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5559552"/>
            <a:ext cx="39319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0C896"/>
                </a:solidFill>
                <a:latin typeface="Segoe UI"/>
              </a:rPr>
              <a:t>🔒 Sin datos sensibles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03520" y="5504688"/>
            <a:ext cx="6217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EAF1FB"/>
                </a:solidFill>
                <a:latin typeface="Segoe UI"/>
              </a:rPr>
              <a:t>Dataset sintético, sin nombres de clientes. Reemplazable por la cartera real de la empresa.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527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mv_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41848" y="1051560"/>
            <a:ext cx="914400" cy="9144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2286000"/>
            <a:ext cx="10332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000" b="1">
                <a:solidFill>
                  <a:srgbClr val="EAF1FB"/>
                </a:solidFill>
                <a:latin typeface="Segoe UI"/>
              </a:rPr>
              <a:t>Convierta su cartera en recupero.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383280"/>
            <a:ext cx="103327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>
                <a:solidFill>
                  <a:srgbClr val="00C896"/>
                </a:solidFill>
                <a:latin typeface="Segoe UI"/>
              </a:rPr>
              <a:t>MV Kobra AI · Cobranzas Inteligentes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206240"/>
            <a:ext cx="103327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0">
                <a:solidFill>
                  <a:srgbClr val="9DB0C8"/>
                </a:solidFill>
                <a:latin typeface="Segoe UI"/>
              </a:rPr>
              <a:t>Demo lista para ejecutar · Solicite una prueba con su propia cartera.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