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5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2880360"/>
            <a:ext cx="12191695" cy="109728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v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3248" y="777240"/>
            <a:ext cx="1371600" cy="1371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19456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6600" b="1">
                <a:solidFill>
                  <a:srgbClr val="00C896"/>
                </a:solidFill>
                <a:latin typeface="Segoe UI"/>
              </a:rPr>
              <a:t>MV Kobra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383280"/>
            <a:ext cx="10332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0">
                <a:solidFill>
                  <a:srgbClr val="EAF1FB"/>
                </a:solidFill>
                <a:latin typeface="Segoe UI"/>
              </a:rPr>
              <a:t>Plataforma de Cobranzas Inteligentes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0">
                <a:solidFill>
                  <a:srgbClr val="9DB0C8"/>
                </a:solidFill>
                <a:latin typeface="Segoe UI"/>
              </a:rPr>
              <a:t>ProbPago · Agente IA Negociador · Priorización por valor esperado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03504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9DB0C8"/>
                </a:solidFill>
                <a:latin typeface="Segoe UI"/>
              </a:rPr>
              <a:t>Propuesta gerencial · Uruguay · Demo con datos sintéticos (sin datos de clientes)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5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EAF1FB"/>
                </a:solidFill>
                <a:latin typeface="Segoe UI"/>
              </a:rPr>
              <a:t>El problema de la cobranza tradicional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280160"/>
            <a:ext cx="137160" cy="640080"/>
          </a:xfrm>
          <a:prstGeom prst="roundRect">
            <a:avLst/>
          </a:prstGeom>
          <a:solidFill>
            <a:srgbClr val="00C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>
                <a:solidFill>
                  <a:srgbClr val="9DB0C8"/>
                </a:solidFill>
                <a:latin typeface="Segoe UI"/>
              </a:rPr>
              <a:t>▸  Se gestiona por igual a todos los deudores → se malgasta tiempo en casos irrecuperables.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9DB0C8"/>
                </a:solidFill>
                <a:latin typeface="Segoe UI"/>
              </a:rPr>
              <a:t>▸  Las decisiones de descuento y planes se toman "a ojo", sin datos.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9DB0C8"/>
                </a:solidFill>
                <a:latin typeface="Segoe UI"/>
              </a:rPr>
              <a:t>▸  No se sabe a quién llamar primero ni por qué canal.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9DB0C8"/>
                </a:solidFill>
                <a:latin typeface="Segoe UI"/>
              </a:rPr>
              <a:t>▸  Los guiones de negociación no están estandarizados ni optimizados.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9DB0C8"/>
                </a:solidFill>
                <a:latin typeface="Segoe UI"/>
              </a:rPr>
              <a:t>▸  El reporting gerencial es lento, manual y poco accionable.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7607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2B441"/>
                </a:solidFill>
                <a:latin typeface="Segoe UI"/>
              </a:rPr>
              <a:t>Resultado: menor recupero, más costo operativo y peor experiencia del cliente.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5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EAF1FB"/>
                </a:solidFill>
                <a:latin typeface="Segoe UI"/>
              </a:rPr>
              <a:t>La solución: MV Kobra AI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280160"/>
            <a:ext cx="137160" cy="640080"/>
          </a:xfrm>
          <a:prstGeom prst="roundRect">
            <a:avLst/>
          </a:prstGeom>
          <a:solidFill>
            <a:srgbClr val="00C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920240"/>
            <a:ext cx="3566160" cy="3840480"/>
          </a:xfrm>
          <a:prstGeom prst="roundRect">
            <a:avLst/>
          </a:prstGeom>
          <a:solidFill>
            <a:srgbClr val="0E1E34"/>
          </a:solidFill>
          <a:ln w="12700">
            <a:solidFill>
              <a:srgbClr val="00C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40280"/>
            <a:ext cx="3017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0C896"/>
                </a:solidFill>
                <a:latin typeface="Segoe UI"/>
              </a:rPr>
              <a:t>🧠 ProbPago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301752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EAF1FB"/>
                </a:solidFill>
                <a:latin typeface="Segoe UI"/>
              </a:rPr>
              <a:t>Modelo de Machine Learning que estima la probabilidad de pago de cada deudor. Selección de modelos con validación cruzada + calibración.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3017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0C896"/>
                </a:solidFill>
                <a:latin typeface="Segoe UI"/>
              </a:rPr>
              <a:t>Se entrena y valida con la cartera real del cliente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920240"/>
            <a:ext cx="3566160" cy="3840480"/>
          </a:xfrm>
          <a:prstGeom prst="roundRect">
            <a:avLst/>
          </a:prstGeom>
          <a:solidFill>
            <a:srgbClr val="0E1E34"/>
          </a:solidFill>
          <a:ln w="12700">
            <a:solidFill>
              <a:srgbClr val="215E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9160" y="2240280"/>
            <a:ext cx="3017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215EA3"/>
                </a:solidFill>
                <a:latin typeface="Segoe UI"/>
              </a:rPr>
              <a:t>🤖 Agente + Copiloto en Vivo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3200400"/>
            <a:ext cx="301752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EAF1FB"/>
                </a:solidFill>
                <a:latin typeface="Segoe UI"/>
              </a:rPr>
              <a:t>Recomienda estrategia, descuento, canal y guion. En vivo: analiza el sentimiento del cliente (voz/WhatsApp) y asesora al gestor en tiempo real.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5029200"/>
            <a:ext cx="3017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15EA3"/>
                </a:solidFill>
                <a:latin typeface="Segoe UI"/>
              </a:rPr>
              <a:t>Maximiza recupero minimizando la quita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920240"/>
            <a:ext cx="3566160" cy="3840480"/>
          </a:xfrm>
          <a:prstGeom prst="roundRect">
            <a:avLst/>
          </a:prstGeom>
          <a:solidFill>
            <a:srgbClr val="0E1E34"/>
          </a:solidFill>
          <a:ln w="12700">
            <a:solidFill>
              <a:srgbClr val="F2B4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0" y="2240280"/>
            <a:ext cx="3017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2B441"/>
                </a:solidFill>
                <a:latin typeface="Segoe UI"/>
              </a:rPr>
              <a:t>📊 Dashboard Gerencial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3200400"/>
            <a:ext cx="301752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EAF1FB"/>
                </a:solidFill>
                <a:latin typeface="Segoe UI"/>
              </a:rPr>
              <a:t>KPIs, filtros, gráficos y priorización de cartera por valor esperado de recupero.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5029200"/>
            <a:ext cx="3017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2B441"/>
                </a:solidFill>
                <a:latin typeface="Segoe UI"/>
              </a:rPr>
              <a:t>Exportable a Excel / CSV para reporting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5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EAF1FB"/>
                </a:solidFill>
                <a:latin typeface="Segoe UI"/>
              </a:rPr>
              <a:t>Cómo funciona · flujo end-to-end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280160"/>
            <a:ext cx="137160" cy="640080"/>
          </a:xfrm>
          <a:prstGeom prst="roundRect">
            <a:avLst/>
          </a:prstGeom>
          <a:solidFill>
            <a:srgbClr val="00C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1920240"/>
            <a:ext cx="2926080" cy="749808"/>
          </a:xfrm>
          <a:prstGeom prst="roundRect">
            <a:avLst/>
          </a:prstGeom>
          <a:solidFill>
            <a:srgbClr val="0E1E34"/>
          </a:solidFill>
          <a:ln w="12700">
            <a:solidFill>
              <a:srgbClr val="00C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029968"/>
            <a:ext cx="2743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0C896"/>
                </a:solidFill>
                <a:latin typeface="Segoe UI"/>
              </a:rPr>
              <a:t>1 · Cartera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23360" y="2029968"/>
            <a:ext cx="7315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EAF1FB"/>
                </a:solidFill>
                <a:latin typeface="Segoe UI"/>
              </a:rPr>
              <a:t>Se carga la base de deudores (o se conecta al core).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816352"/>
            <a:ext cx="2926080" cy="749808"/>
          </a:xfrm>
          <a:prstGeom prst="roundRect">
            <a:avLst/>
          </a:prstGeom>
          <a:solidFill>
            <a:srgbClr val="0E1E34"/>
          </a:solidFill>
          <a:ln w="12700">
            <a:solidFill>
              <a:srgbClr val="215E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926080"/>
            <a:ext cx="2743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15EA3"/>
                </a:solidFill>
                <a:latin typeface="Segoe UI"/>
              </a:rPr>
              <a:t>2 · ProbPago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2926080"/>
            <a:ext cx="7315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EAF1FB"/>
                </a:solidFill>
                <a:latin typeface="Segoe UI"/>
              </a:rPr>
              <a:t>El modelo asigna probabilidad de pago a cada caso.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712464"/>
            <a:ext cx="2926080" cy="749808"/>
          </a:xfrm>
          <a:prstGeom prst="roundRect">
            <a:avLst/>
          </a:prstGeom>
          <a:solidFill>
            <a:srgbClr val="0E1E34"/>
          </a:solidFill>
          <a:ln w="12700">
            <a:solidFill>
              <a:srgbClr val="F2B4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822192"/>
            <a:ext cx="2743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2B441"/>
                </a:solidFill>
                <a:latin typeface="Segoe UI"/>
              </a:rPr>
              <a:t>3 · Negociador 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3822192"/>
            <a:ext cx="7315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EAF1FB"/>
                </a:solidFill>
                <a:latin typeface="Segoe UI"/>
              </a:rPr>
              <a:t>Define estrategia, descuento, canal y guion.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608576"/>
            <a:ext cx="2926080" cy="749808"/>
          </a:xfrm>
          <a:prstGeom prst="roundRect">
            <a:avLst/>
          </a:prstGeom>
          <a:solidFill>
            <a:srgbClr val="0E1E34"/>
          </a:solidFill>
          <a:ln w="12700">
            <a:solidFill>
              <a:srgbClr val="00C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718304"/>
            <a:ext cx="2743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0C896"/>
                </a:solidFill>
                <a:latin typeface="Segoe UI"/>
              </a:rPr>
              <a:t>4 · Priorización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0" y="4718304"/>
            <a:ext cx="7315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EAF1FB"/>
                </a:solidFill>
                <a:latin typeface="Segoe UI"/>
              </a:rPr>
              <a:t>Ordena por valor esperado de recupero (UYU).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5504688"/>
            <a:ext cx="2926080" cy="749808"/>
          </a:xfrm>
          <a:prstGeom prst="roundRect">
            <a:avLst/>
          </a:prstGeom>
          <a:solidFill>
            <a:srgbClr val="0E1E34"/>
          </a:solidFill>
          <a:ln w="12700">
            <a:solidFill>
              <a:srgbClr val="215E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5614416"/>
            <a:ext cx="2743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15EA3"/>
                </a:solidFill>
                <a:latin typeface="Segoe UI"/>
              </a:rPr>
              <a:t>5 · Acción + Reporting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23360" y="5614416"/>
            <a:ext cx="7315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EAF1FB"/>
                </a:solidFill>
                <a:latin typeface="Segoe UI"/>
              </a:rPr>
              <a:t>Gestores ejecutan; gerencia mide en el dashboard.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5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EAF1FB"/>
                </a:solidFill>
                <a:latin typeface="Segoe UI"/>
              </a:rPr>
              <a:t>Impacto sobre la cartera (demo)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280160"/>
            <a:ext cx="137160" cy="640080"/>
          </a:xfrm>
          <a:prstGeom prst="roundRect">
            <a:avLst/>
          </a:prstGeom>
          <a:solidFill>
            <a:srgbClr val="00C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920240"/>
            <a:ext cx="3566160" cy="1737360"/>
          </a:xfrm>
          <a:prstGeom prst="roundRect">
            <a:avLst/>
          </a:prstGeom>
          <a:solidFill>
            <a:srgbClr val="0E1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 b="1">
                <a:solidFill>
                  <a:srgbClr val="00C896"/>
                </a:solidFill>
                <a:latin typeface="Segoe UI"/>
              </a:rPr>
              <a:t>12,000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063240"/>
            <a:ext cx="3566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9DB0C8"/>
                </a:solidFill>
                <a:latin typeface="Segoe UI"/>
              </a:rPr>
              <a:t>Deudores analizados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920240"/>
            <a:ext cx="3566160" cy="1737360"/>
          </a:xfrm>
          <a:prstGeom prst="roundRect">
            <a:avLst/>
          </a:prstGeom>
          <a:solidFill>
            <a:srgbClr val="0E1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34840" y="2194560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 b="1">
                <a:solidFill>
                  <a:srgbClr val="EAF1FB"/>
                </a:solidFill>
                <a:latin typeface="Segoe UI"/>
              </a:rPr>
              <a:t>$U 1,790.0M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4840" y="3063240"/>
            <a:ext cx="3566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9DB0C8"/>
                </a:solidFill>
                <a:latin typeface="Segoe UI"/>
              </a:rPr>
              <a:t>Cartera total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920240"/>
            <a:ext cx="3566160" cy="1737360"/>
          </a:xfrm>
          <a:prstGeom prst="roundRect">
            <a:avLst/>
          </a:prstGeom>
          <a:solidFill>
            <a:srgbClr val="0E1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2194560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 b="1">
                <a:solidFill>
                  <a:srgbClr val="00C896"/>
                </a:solidFill>
                <a:latin typeface="Segoe UI"/>
              </a:rPr>
              <a:t>$U 861.6M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3063240"/>
            <a:ext cx="3566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9DB0C8"/>
                </a:solidFill>
                <a:latin typeface="Segoe UI"/>
              </a:rPr>
              <a:t>Recupero esperado (48%)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931920"/>
            <a:ext cx="3566160" cy="1737360"/>
          </a:xfrm>
          <a:prstGeom prst="roundRect">
            <a:avLst/>
          </a:prstGeom>
          <a:solidFill>
            <a:srgbClr val="0E1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206240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 b="1">
                <a:solidFill>
                  <a:srgbClr val="215EA3"/>
                </a:solidFill>
                <a:latin typeface="Segoe UI"/>
              </a:rPr>
              <a:t>59%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074920"/>
            <a:ext cx="3566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9DB0C8"/>
                </a:solidFill>
                <a:latin typeface="Segoe UI"/>
              </a:rPr>
              <a:t>ProbPago promedio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34840" y="3931920"/>
            <a:ext cx="3566160" cy="1737360"/>
          </a:xfrm>
          <a:prstGeom prst="roundRect">
            <a:avLst/>
          </a:prstGeom>
          <a:solidFill>
            <a:srgbClr val="0E1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4840" y="4206240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 b="1">
                <a:solidFill>
                  <a:srgbClr val="F2B441"/>
                </a:solidFill>
                <a:latin typeface="Segoe UI"/>
              </a:rPr>
              <a:t>$U 636.6M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5074920"/>
            <a:ext cx="3566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9DB0C8"/>
                </a:solidFill>
                <a:latin typeface="Segoe UI"/>
              </a:rPr>
              <a:t>Cartera en riesgo (baja prop.)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3931920"/>
            <a:ext cx="3566160" cy="1737360"/>
          </a:xfrm>
          <a:prstGeom prst="roundRect">
            <a:avLst/>
          </a:prstGeom>
          <a:solidFill>
            <a:srgbClr val="0E1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4206240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 b="1">
                <a:solidFill>
                  <a:srgbClr val="00C896"/>
                </a:solidFill>
                <a:latin typeface="Segoe UI"/>
              </a:rPr>
              <a:t>1.69x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5074920"/>
            <a:ext cx="3566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9DB0C8"/>
                </a:solidFill>
                <a:latin typeface="Segoe UI"/>
              </a:rPr>
              <a:t>Lift del top decil vs. base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1264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9DB0C8"/>
                </a:solidFill>
                <a:latin typeface="Segoe UI"/>
              </a:rPr>
              <a:t>Datos sintéticos ilustrativos: muestran cómo MV Kobra AI prioriza el esfuerzo donde está el valor recuperable. Con la cartera real, estos KPIs se calculan de verdad.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5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scura_titulo"/>
          <p:cNvSpPr txBox="1"/>
          <p:nvPr/>
        </p:nvSpPr>
        <p:spPr>
          <a:xfrm>
            <a:off x="640080" y="292608"/>
            <a:ext cx="10911535" cy="640080"/>
          </a:xfrm>
          <a:prstGeom prst="rect">
            <a:avLst/>
          </a:prstGeom>
          <a:noFill/>
        </p:spPr>
        <p:txBody>
          <a:bodyPr wrap="square" anchor="ctr" lIns="73152" rIns="73152" tIns="18288" bIns="18288">
            <a:spAutoFit/>
          </a:bodyPr>
          <a:lstStyle/>
          <a:p>
            <a:pPr algn="l"/>
            <a:r>
              <a:rPr sz="3000" b="1">
                <a:solidFill>
                  <a:srgbClr val="EAF1FB"/>
                </a:solidFill>
                <a:latin typeface="Segoe UI"/>
              </a:rPr>
              <a:t>Frescura de los datos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37160" cy="329184"/>
          </a:xfrm>
          <a:prstGeom prst="rect">
            <a:avLst/>
          </a:prstGeom>
          <a:solidFill>
            <a:srgbClr val="00C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scura_titular"/>
          <p:cNvSpPr txBox="1"/>
          <p:nvPr/>
        </p:nvSpPr>
        <p:spPr>
          <a:xfrm>
            <a:off x="868680" y="896112"/>
            <a:ext cx="10682935" cy="457200"/>
          </a:xfrm>
          <a:prstGeom prst="rect">
            <a:avLst/>
          </a:prstGeom>
          <a:noFill/>
        </p:spPr>
        <p:txBody>
          <a:bodyPr wrap="square" anchor="ctr" lIns="73152" rIns="73152" tIns="18288" bIns="18288">
            <a:spAutoFit/>
          </a:bodyPr>
          <a:lstStyle/>
          <a:p>
            <a:pPr algn="l"/>
            <a:r>
              <a:rPr sz="1200" b="0">
                <a:solidFill>
                  <a:srgbClr val="9DB0C8"/>
                </a:solidFill>
                <a:latin typeface="Segoe UI"/>
              </a:rPr>
              <a:t>Última carga de cada tabla que usa el programa y si llegó tarde · revisado el 2026-09-24 20:40</a:t>
            </a:r>
          </a:p>
          <a:p>
            <a:pPr algn="l"/>
            <a:r>
              <a:rPr sz="1200" b="1">
                <a:solidFill>
                  <a:srgbClr val="B9C8DC"/>
                </a:solidFill>
                <a:latin typeface="Segoe UI"/>
              </a:rPr>
              <a:t>1 atrasada(s): Cartera scoreada · 2 sin cargar: Evaluaciones de calidad, Cartera real importada</a:t>
            </a:r>
          </a:p>
        </p:txBody>
      </p:sp>
      <p:sp>
        <p:nvSpPr>
          <p:cNvPr id="5" name="frescura_kpi_total"/>
          <p:cNvSpPr/>
          <p:nvPr/>
        </p:nvSpPr>
        <p:spPr>
          <a:xfrm>
            <a:off x="640080" y="1371600"/>
            <a:ext cx="2590723" cy="868680"/>
          </a:xfrm>
          <a:prstGeom prst="roundRect">
            <a:avLst>
              <a:gd name="adj" fmla="val 18000"/>
            </a:avLst>
          </a:prstGeom>
          <a:solidFill>
            <a:srgbClr val="0E1E34"/>
          </a:solidFill>
          <a:ln w="12700">
            <a:solidFill>
              <a:srgbClr val="00C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19" y="1554480"/>
            <a:ext cx="64008" cy="502919"/>
          </a:xfrm>
          <a:prstGeom prst="roundRect">
            <a:avLst>
              <a:gd name="adj" fmla="val 18000"/>
            </a:avLst>
          </a:prstGeom>
          <a:solidFill>
            <a:srgbClr val="00C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426464"/>
            <a:ext cx="2298115" cy="475488"/>
          </a:xfrm>
          <a:prstGeom prst="rect">
            <a:avLst/>
          </a:prstGeom>
          <a:noFill/>
        </p:spPr>
        <p:txBody>
          <a:bodyPr wrap="square" anchor="ctr" lIns="73152" rIns="73152" tIns="18288" bIns="18288">
            <a:spAutoFit/>
          </a:bodyPr>
          <a:lstStyle/>
          <a:p>
            <a:pPr algn="l"/>
            <a:r>
              <a:rPr sz="2600" b="1">
                <a:solidFill>
                  <a:srgbClr val="00C896"/>
                </a:solidFill>
                <a:latin typeface="Segoe UI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1883664"/>
            <a:ext cx="2298115" cy="292608"/>
          </a:xfrm>
          <a:prstGeom prst="rect">
            <a:avLst/>
          </a:prstGeom>
          <a:noFill/>
        </p:spPr>
        <p:txBody>
          <a:bodyPr wrap="square" anchor="ctr" lIns="73152" rIns="73152" tIns="18288" bIns="18288">
            <a:spAutoFit/>
          </a:bodyPr>
          <a:lstStyle/>
          <a:p>
            <a:pPr algn="l"/>
            <a:r>
              <a:rPr sz="1200" b="0">
                <a:solidFill>
                  <a:srgbClr val="B9C8DC"/>
                </a:solidFill>
                <a:latin typeface="Segoe UI"/>
              </a:rPr>
              <a:t>Tablas controladas</a:t>
            </a:r>
          </a:p>
        </p:txBody>
      </p:sp>
      <p:sp>
        <p:nvSpPr>
          <p:cNvPr id="9" name="frescura_kpi_al_dia"/>
          <p:cNvSpPr/>
          <p:nvPr/>
        </p:nvSpPr>
        <p:spPr>
          <a:xfrm>
            <a:off x="3413683" y="1371600"/>
            <a:ext cx="2590723" cy="868680"/>
          </a:xfrm>
          <a:prstGeom prst="roundRect">
            <a:avLst>
              <a:gd name="adj" fmla="val 18000"/>
            </a:avLst>
          </a:prstGeom>
          <a:solidFill>
            <a:srgbClr val="0E1E34"/>
          </a:solidFill>
          <a:ln w="12700">
            <a:solidFill>
              <a:srgbClr val="00C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505123" y="1554480"/>
            <a:ext cx="64008" cy="502919"/>
          </a:xfrm>
          <a:prstGeom prst="roundRect">
            <a:avLst>
              <a:gd name="adj" fmla="val 18000"/>
            </a:avLst>
          </a:prstGeom>
          <a:solidFill>
            <a:srgbClr val="00C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4851" y="1426464"/>
            <a:ext cx="2298115" cy="475488"/>
          </a:xfrm>
          <a:prstGeom prst="rect">
            <a:avLst/>
          </a:prstGeom>
          <a:noFill/>
        </p:spPr>
        <p:txBody>
          <a:bodyPr wrap="square" anchor="ctr" lIns="73152" rIns="73152" tIns="18288" bIns="18288">
            <a:spAutoFit/>
          </a:bodyPr>
          <a:lstStyle/>
          <a:p>
            <a:pPr algn="l"/>
            <a:r>
              <a:rPr sz="2600" b="1">
                <a:solidFill>
                  <a:srgbClr val="00C896"/>
                </a:solidFill>
                <a:latin typeface="Segoe U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4851" y="1883664"/>
            <a:ext cx="2298115" cy="292608"/>
          </a:xfrm>
          <a:prstGeom prst="rect">
            <a:avLst/>
          </a:prstGeom>
          <a:noFill/>
        </p:spPr>
        <p:txBody>
          <a:bodyPr wrap="square" anchor="ctr" lIns="73152" rIns="73152" tIns="18288" bIns="18288">
            <a:spAutoFit/>
          </a:bodyPr>
          <a:lstStyle/>
          <a:p>
            <a:pPr algn="l"/>
            <a:r>
              <a:rPr sz="1200" b="0">
                <a:solidFill>
                  <a:srgbClr val="B9C8DC"/>
                </a:solidFill>
                <a:latin typeface="Segoe UI"/>
              </a:rPr>
              <a:t>Al día</a:t>
            </a:r>
          </a:p>
        </p:txBody>
      </p:sp>
      <p:sp>
        <p:nvSpPr>
          <p:cNvPr id="13" name="frescura_kpi_atrasada"/>
          <p:cNvSpPr/>
          <p:nvPr/>
        </p:nvSpPr>
        <p:spPr>
          <a:xfrm>
            <a:off x="6187287" y="1371600"/>
            <a:ext cx="2590723" cy="868680"/>
          </a:xfrm>
          <a:prstGeom prst="roundRect">
            <a:avLst>
              <a:gd name="adj" fmla="val 18000"/>
            </a:avLst>
          </a:prstGeom>
          <a:solidFill>
            <a:srgbClr val="0E1E34"/>
          </a:solidFill>
          <a:ln w="12700">
            <a:solidFill>
              <a:srgbClr val="F2B4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78727" y="1554480"/>
            <a:ext cx="64008" cy="502919"/>
          </a:xfrm>
          <a:prstGeom prst="roundRect">
            <a:avLst>
              <a:gd name="adj" fmla="val 18000"/>
            </a:avLst>
          </a:prstGeom>
          <a:solidFill>
            <a:srgbClr val="F2B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8455" y="1426464"/>
            <a:ext cx="2298115" cy="475488"/>
          </a:xfrm>
          <a:prstGeom prst="rect">
            <a:avLst/>
          </a:prstGeom>
          <a:noFill/>
        </p:spPr>
        <p:txBody>
          <a:bodyPr wrap="square" anchor="ctr" lIns="73152" rIns="73152" tIns="18288" bIns="18288">
            <a:spAutoFit/>
          </a:bodyPr>
          <a:lstStyle/>
          <a:p>
            <a:pPr algn="l"/>
            <a:r>
              <a:rPr sz="2600" b="1">
                <a:solidFill>
                  <a:srgbClr val="F2B441"/>
                </a:solidFill>
                <a:latin typeface="Segoe U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8455" y="1883664"/>
            <a:ext cx="2298115" cy="292608"/>
          </a:xfrm>
          <a:prstGeom prst="rect">
            <a:avLst/>
          </a:prstGeom>
          <a:noFill/>
        </p:spPr>
        <p:txBody>
          <a:bodyPr wrap="square" anchor="ctr" lIns="73152" rIns="73152" tIns="18288" bIns="18288">
            <a:spAutoFit/>
          </a:bodyPr>
          <a:lstStyle/>
          <a:p>
            <a:pPr algn="l"/>
            <a:r>
              <a:rPr sz="1200" b="0">
                <a:solidFill>
                  <a:srgbClr val="B9C8DC"/>
                </a:solidFill>
                <a:latin typeface="Segoe UI"/>
              </a:rPr>
              <a:t>Atrasadas</a:t>
            </a:r>
          </a:p>
        </p:txBody>
      </p:sp>
      <p:sp>
        <p:nvSpPr>
          <p:cNvPr id="17" name="frescura_kpi_sin_datos"/>
          <p:cNvSpPr/>
          <p:nvPr/>
        </p:nvSpPr>
        <p:spPr>
          <a:xfrm>
            <a:off x="8960891" y="1371600"/>
            <a:ext cx="2590723" cy="868680"/>
          </a:xfrm>
          <a:prstGeom prst="roundRect">
            <a:avLst>
              <a:gd name="adj" fmla="val 18000"/>
            </a:avLst>
          </a:prstGeom>
          <a:solidFill>
            <a:srgbClr val="0E1E34"/>
          </a:solidFill>
          <a:ln w="12700">
            <a:solidFill>
              <a:srgbClr val="FF76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052331" y="1554480"/>
            <a:ext cx="64008" cy="502919"/>
          </a:xfrm>
          <a:prstGeom prst="roundRect">
            <a:avLst>
              <a:gd name="adj" fmla="val 18000"/>
            </a:avLst>
          </a:prstGeom>
          <a:solidFill>
            <a:srgbClr val="FF76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62059" y="1426464"/>
            <a:ext cx="2298115" cy="475488"/>
          </a:xfrm>
          <a:prstGeom prst="rect">
            <a:avLst/>
          </a:prstGeom>
          <a:noFill/>
        </p:spPr>
        <p:txBody>
          <a:bodyPr wrap="square" anchor="ctr" lIns="73152" rIns="73152" tIns="18288" bIns="18288">
            <a:spAutoFit/>
          </a:bodyPr>
          <a:lstStyle/>
          <a:p>
            <a:pPr algn="l"/>
            <a:r>
              <a:rPr sz="2600" b="1">
                <a:solidFill>
                  <a:srgbClr val="FF7675"/>
                </a:solidFill>
                <a:latin typeface="Segoe U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62059" y="1883664"/>
            <a:ext cx="2298115" cy="292608"/>
          </a:xfrm>
          <a:prstGeom prst="rect">
            <a:avLst/>
          </a:prstGeom>
          <a:noFill/>
        </p:spPr>
        <p:txBody>
          <a:bodyPr wrap="square" anchor="ctr" lIns="73152" rIns="73152" tIns="18288" bIns="18288">
            <a:spAutoFit/>
          </a:bodyPr>
          <a:lstStyle/>
          <a:p>
            <a:pPr algn="l"/>
            <a:r>
              <a:rPr sz="1200" b="0">
                <a:solidFill>
                  <a:srgbClr val="B9C8DC"/>
                </a:solidFill>
                <a:latin typeface="Segoe UI"/>
              </a:rPr>
              <a:t>Sin cargar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2395728"/>
            <a:ext cx="10911535" cy="329184"/>
          </a:xfrm>
          <a:prstGeom prst="rect">
            <a:avLst/>
          </a:prstGeom>
          <a:solidFill>
            <a:srgbClr val="0C21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8096" y="2395728"/>
            <a:ext cx="3472790" cy="329184"/>
          </a:xfrm>
          <a:prstGeom prst="rect">
            <a:avLst/>
          </a:prstGeom>
          <a:noFill/>
        </p:spPr>
        <p:txBody>
          <a:bodyPr wrap="square" anchor="ctr" lIns="73152" rIns="73152" tIns="18288" bIns="18288">
            <a:spAutoFit/>
          </a:bodyPr>
          <a:lstStyle/>
          <a:p>
            <a:pPr algn="l"/>
            <a:r>
              <a:rPr sz="950" b="1">
                <a:solidFill>
                  <a:srgbClr val="00C896"/>
                </a:solidFill>
                <a:latin typeface="Segoe UI"/>
              </a:rPr>
              <a:t>TABLA / DATASET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40886" y="2395728"/>
            <a:ext cx="1800403" cy="329184"/>
          </a:xfrm>
          <a:prstGeom prst="rect">
            <a:avLst/>
          </a:prstGeom>
          <a:noFill/>
        </p:spPr>
        <p:txBody>
          <a:bodyPr wrap="square" anchor="ctr" lIns="73152" rIns="73152" tIns="18288" bIns="18288">
            <a:spAutoFit/>
          </a:bodyPr>
          <a:lstStyle/>
          <a:p>
            <a:pPr algn="l"/>
            <a:r>
              <a:rPr sz="950" b="1">
                <a:solidFill>
                  <a:srgbClr val="00C896"/>
                </a:solidFill>
                <a:latin typeface="Segoe UI"/>
              </a:rPr>
              <a:t>ÚLTIMA CARGA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41289" y="2395728"/>
            <a:ext cx="1418499" cy="329184"/>
          </a:xfrm>
          <a:prstGeom prst="rect">
            <a:avLst/>
          </a:prstGeom>
          <a:noFill/>
        </p:spPr>
        <p:txBody>
          <a:bodyPr wrap="square" anchor="ctr" lIns="73152" rIns="73152" tIns="18288" bIns="18288">
            <a:spAutoFit/>
          </a:bodyPr>
          <a:lstStyle/>
          <a:p>
            <a:pPr algn="l"/>
            <a:r>
              <a:rPr sz="950" b="1">
                <a:solidFill>
                  <a:srgbClr val="00C896"/>
                </a:solidFill>
                <a:latin typeface="Segoe UI"/>
              </a:rPr>
              <a:t>FECHA DEL DATO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59789" y="2395728"/>
            <a:ext cx="1091153" cy="329184"/>
          </a:xfrm>
          <a:prstGeom prst="rect">
            <a:avLst/>
          </a:prstGeom>
          <a:noFill/>
        </p:spPr>
        <p:txBody>
          <a:bodyPr wrap="square" anchor="ctr" lIns="73152" rIns="73152" tIns="18288" bIns="18288">
            <a:spAutoFit/>
          </a:bodyPr>
          <a:lstStyle/>
          <a:p>
            <a:pPr algn="r"/>
            <a:r>
              <a:rPr sz="950" b="1">
                <a:solidFill>
                  <a:srgbClr val="00C896"/>
                </a:solidFill>
                <a:latin typeface="Segoe UI"/>
              </a:rPr>
              <a:t>FILAS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50942" y="2395728"/>
            <a:ext cx="1745845" cy="329184"/>
          </a:xfrm>
          <a:prstGeom prst="rect">
            <a:avLst/>
          </a:prstGeom>
          <a:noFill/>
        </p:spPr>
        <p:txBody>
          <a:bodyPr wrap="square" anchor="ctr" lIns="73152" rIns="73152" tIns="18288" bIns="18288">
            <a:spAutoFit/>
          </a:bodyPr>
          <a:lstStyle/>
          <a:p>
            <a:pPr algn="l"/>
            <a:r>
              <a:rPr sz="950" b="1">
                <a:solidFill>
                  <a:srgbClr val="00C896"/>
                </a:solidFill>
                <a:latin typeface="Segoe UI"/>
              </a:rPr>
              <a:t>FRECUENCIA ESPERADA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96788" y="2395728"/>
            <a:ext cx="1254826" cy="329184"/>
          </a:xfrm>
          <a:prstGeom prst="rect">
            <a:avLst/>
          </a:prstGeom>
          <a:noFill/>
        </p:spPr>
        <p:txBody>
          <a:bodyPr wrap="square" anchor="ctr" lIns="73152" rIns="73152" tIns="18288" bIns="18288">
            <a:spAutoFit/>
          </a:bodyPr>
          <a:lstStyle/>
          <a:p>
            <a:pPr algn="ctr"/>
            <a:r>
              <a:rPr sz="950" b="1">
                <a:solidFill>
                  <a:srgbClr val="00C896"/>
                </a:solidFill>
                <a:latin typeface="Segoe UI"/>
              </a:rPr>
              <a:t>SEMÁFORO</a:t>
            </a:r>
          </a:p>
        </p:txBody>
      </p:sp>
      <p:sp>
        <p:nvSpPr>
          <p:cNvPr id="28" name="frescura_fila_scored"/>
          <p:cNvSpPr/>
          <p:nvPr/>
        </p:nvSpPr>
        <p:spPr>
          <a:xfrm>
            <a:off x="640080" y="2779776"/>
            <a:ext cx="10911535" cy="603504"/>
          </a:xfrm>
          <a:prstGeom prst="roundRect">
            <a:avLst>
              <a:gd name="adj" fmla="val 18000"/>
            </a:avLst>
          </a:prstGeom>
          <a:solidFill>
            <a:srgbClr val="0E1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94944" y="2871216"/>
            <a:ext cx="64008" cy="420624"/>
          </a:xfrm>
          <a:prstGeom prst="roundRect">
            <a:avLst>
              <a:gd name="adj" fmla="val 18000"/>
            </a:avLst>
          </a:prstGeom>
          <a:solidFill>
            <a:srgbClr val="F2B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frescura_celda_scored_0"/>
          <p:cNvSpPr txBox="1"/>
          <p:nvPr/>
        </p:nvSpPr>
        <p:spPr>
          <a:xfrm>
            <a:off x="768096" y="2779776"/>
            <a:ext cx="3472790" cy="603504"/>
          </a:xfrm>
          <a:prstGeom prst="rect">
            <a:avLst/>
          </a:prstGeom>
          <a:noFill/>
        </p:spPr>
        <p:txBody>
          <a:bodyPr wrap="square" anchor="ctr" lIns="73152" rIns="73152" tIns="18288" bIns="18288">
            <a:spAutoFit/>
          </a:bodyPr>
          <a:lstStyle/>
          <a:p>
            <a:pPr algn="l"/>
            <a:r>
              <a:rPr sz="1250" b="1">
                <a:solidFill>
                  <a:srgbClr val="EAF1FB"/>
                </a:solidFill>
                <a:latin typeface="Segoe UI"/>
              </a:rPr>
              <a:t>Cartera scoreada</a:t>
            </a:r>
          </a:p>
          <a:p>
            <a:pPr algn="l"/>
            <a:r>
              <a:rPr sz="850" b="0">
                <a:solidFill>
                  <a:srgbClr val="9DB0C8"/>
                </a:solidFill>
                <a:latin typeface="Segoe UI"/>
              </a:rPr>
              <a:t>Se esperaba una carga diaria y la última fue hace 19 días (18 días más de lo previsto).</a:t>
            </a:r>
          </a:p>
        </p:txBody>
      </p:sp>
      <p:sp>
        <p:nvSpPr>
          <p:cNvPr id="31" name="frescura_celda_scored_1"/>
          <p:cNvSpPr txBox="1"/>
          <p:nvPr/>
        </p:nvSpPr>
        <p:spPr>
          <a:xfrm>
            <a:off x="4240886" y="2779776"/>
            <a:ext cx="1800403" cy="603504"/>
          </a:xfrm>
          <a:prstGeom prst="rect">
            <a:avLst/>
          </a:prstGeom>
          <a:noFill/>
        </p:spPr>
        <p:txBody>
          <a:bodyPr wrap="square" anchor="ctr" lIns="73152" rIns="73152" tIns="18288" bIns="18288">
            <a:spAutoFit/>
          </a:bodyPr>
          <a:lstStyle/>
          <a:p>
            <a:pPr algn="l"/>
            <a:r>
              <a:rPr sz="1200" b="0">
                <a:solidFill>
                  <a:srgbClr val="EAF1FB"/>
                </a:solidFill>
                <a:latin typeface="Segoe UI"/>
              </a:rPr>
              <a:t>2026-09-05 12:43</a:t>
            </a:r>
          </a:p>
          <a:p>
            <a:pPr algn="l"/>
            <a:r>
              <a:rPr sz="900" b="0">
                <a:solidFill>
                  <a:srgbClr val="9DB0C8"/>
                </a:solidFill>
                <a:latin typeface="Segoe UI"/>
              </a:rPr>
              <a:t>sábado</a:t>
            </a:r>
          </a:p>
        </p:txBody>
      </p:sp>
      <p:sp>
        <p:nvSpPr>
          <p:cNvPr id="32" name="frescura_celda_scored_2"/>
          <p:cNvSpPr txBox="1"/>
          <p:nvPr/>
        </p:nvSpPr>
        <p:spPr>
          <a:xfrm>
            <a:off x="6041289" y="2779776"/>
            <a:ext cx="1418499" cy="603504"/>
          </a:xfrm>
          <a:prstGeom prst="rect">
            <a:avLst/>
          </a:prstGeom>
          <a:noFill/>
        </p:spPr>
        <p:txBody>
          <a:bodyPr wrap="square" anchor="ctr" lIns="73152" rIns="73152" tIns="18288" bIns="18288">
            <a:spAutoFit/>
          </a:bodyPr>
          <a:lstStyle/>
          <a:p>
            <a:pPr algn="l"/>
            <a:r>
              <a:rPr sz="1200" b="0">
                <a:solidFill>
                  <a:srgbClr val="EAF1FB"/>
                </a:solidFill>
                <a:latin typeface="Segoe UI"/>
              </a:rPr>
              <a:t>—</a:t>
            </a:r>
          </a:p>
        </p:txBody>
      </p:sp>
      <p:sp>
        <p:nvSpPr>
          <p:cNvPr id="33" name="frescura_celda_scored_3"/>
          <p:cNvSpPr txBox="1"/>
          <p:nvPr/>
        </p:nvSpPr>
        <p:spPr>
          <a:xfrm>
            <a:off x="7459789" y="2779776"/>
            <a:ext cx="1091153" cy="603504"/>
          </a:xfrm>
          <a:prstGeom prst="rect">
            <a:avLst/>
          </a:prstGeom>
          <a:noFill/>
        </p:spPr>
        <p:txBody>
          <a:bodyPr wrap="square" anchor="ctr" lIns="73152" rIns="73152" tIns="18288" bIns="18288">
            <a:spAutoFit/>
          </a:bodyPr>
          <a:lstStyle/>
          <a:p>
            <a:pPr algn="r"/>
            <a:r>
              <a:rPr sz="1200" b="0">
                <a:solidFill>
                  <a:srgbClr val="EAF1FB"/>
                </a:solidFill>
                <a:latin typeface="Segoe UI"/>
              </a:rPr>
              <a:t>12.000</a:t>
            </a:r>
          </a:p>
        </p:txBody>
      </p:sp>
      <p:sp>
        <p:nvSpPr>
          <p:cNvPr id="34" name="frescura_celda_scored_4"/>
          <p:cNvSpPr txBox="1"/>
          <p:nvPr/>
        </p:nvSpPr>
        <p:spPr>
          <a:xfrm>
            <a:off x="8550942" y="2779776"/>
            <a:ext cx="1745845" cy="603504"/>
          </a:xfrm>
          <a:prstGeom prst="rect">
            <a:avLst/>
          </a:prstGeom>
          <a:noFill/>
        </p:spPr>
        <p:txBody>
          <a:bodyPr wrap="square" anchor="ctr" lIns="73152" rIns="73152" tIns="18288" bIns="18288">
            <a:spAutoFit/>
          </a:bodyPr>
          <a:lstStyle/>
          <a:p>
            <a:pPr algn="l"/>
            <a:r>
              <a:rPr sz="1100" b="0">
                <a:solidFill>
                  <a:srgbClr val="B9C8DC"/>
                </a:solidFill>
                <a:latin typeface="Segoe UI"/>
              </a:rPr>
              <a:t>Todos los días</a:t>
            </a:r>
          </a:p>
        </p:txBody>
      </p:sp>
      <p:sp>
        <p:nvSpPr>
          <p:cNvPr id="35" name="frescura_chip_scored"/>
          <p:cNvSpPr/>
          <p:nvPr/>
        </p:nvSpPr>
        <p:spPr>
          <a:xfrm>
            <a:off x="10388228" y="2907792"/>
            <a:ext cx="1071946" cy="347472"/>
          </a:xfrm>
          <a:prstGeom prst="roundRect">
            <a:avLst>
              <a:gd name="adj" fmla="val 18000"/>
            </a:avLst>
          </a:prstGeom>
          <a:solidFill>
            <a:srgbClr val="F2B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/>
          <a:lstStyle/>
          <a:p>
            <a:pPr algn="ctr"/>
            <a:r>
              <a:rPr sz="1100" b="1">
                <a:solidFill>
                  <a:srgbClr val="081527"/>
                </a:solidFill>
                <a:latin typeface="Segoe UI"/>
              </a:rPr>
              <a:t>Atrasada</a:t>
            </a:r>
          </a:p>
        </p:txBody>
      </p:sp>
      <p:sp>
        <p:nvSpPr>
          <p:cNvPr id="36" name="frescura_fila_calidad"/>
          <p:cNvSpPr/>
          <p:nvPr/>
        </p:nvSpPr>
        <p:spPr>
          <a:xfrm>
            <a:off x="640080" y="3438144"/>
            <a:ext cx="10911535" cy="603504"/>
          </a:xfrm>
          <a:prstGeom prst="roundRect">
            <a:avLst>
              <a:gd name="adj" fmla="val 18000"/>
            </a:avLst>
          </a:prstGeom>
          <a:solidFill>
            <a:srgbClr val="0E1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94944" y="3529584"/>
            <a:ext cx="64008" cy="420624"/>
          </a:xfrm>
          <a:prstGeom prst="roundRect">
            <a:avLst>
              <a:gd name="adj" fmla="val 18000"/>
            </a:avLst>
          </a:prstGeom>
          <a:solidFill>
            <a:srgbClr val="FF76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scura_celda_calidad_0"/>
          <p:cNvSpPr txBox="1"/>
          <p:nvPr/>
        </p:nvSpPr>
        <p:spPr>
          <a:xfrm>
            <a:off x="768096" y="3438144"/>
            <a:ext cx="3472790" cy="603504"/>
          </a:xfrm>
          <a:prstGeom prst="rect">
            <a:avLst/>
          </a:prstGeom>
          <a:noFill/>
        </p:spPr>
        <p:txBody>
          <a:bodyPr wrap="square" anchor="ctr" lIns="73152" rIns="73152" tIns="18288" bIns="18288">
            <a:spAutoFit/>
          </a:bodyPr>
          <a:lstStyle/>
          <a:p>
            <a:pPr algn="l"/>
            <a:r>
              <a:rPr sz="1250" b="1">
                <a:solidFill>
                  <a:srgbClr val="EAF1FB"/>
                </a:solidFill>
                <a:latin typeface="Segoe UI"/>
              </a:rPr>
              <a:t>Evaluaciones de calidad</a:t>
            </a:r>
          </a:p>
          <a:p>
            <a:pPr algn="l"/>
            <a:r>
              <a:rPr sz="850" b="0">
                <a:solidFill>
                  <a:srgbClr val="9DB0C8"/>
                </a:solidFill>
                <a:latin typeface="Segoe UI"/>
              </a:rPr>
              <a:t>Todavía no se cargó nunca en esta instalación.</a:t>
            </a:r>
          </a:p>
        </p:txBody>
      </p:sp>
      <p:sp>
        <p:nvSpPr>
          <p:cNvPr id="39" name="frescura_celda_calidad_1"/>
          <p:cNvSpPr txBox="1"/>
          <p:nvPr/>
        </p:nvSpPr>
        <p:spPr>
          <a:xfrm>
            <a:off x="4240886" y="3438144"/>
            <a:ext cx="1800403" cy="603504"/>
          </a:xfrm>
          <a:prstGeom prst="rect">
            <a:avLst/>
          </a:prstGeom>
          <a:noFill/>
        </p:spPr>
        <p:txBody>
          <a:bodyPr wrap="square" anchor="ctr" lIns="73152" rIns="73152" tIns="18288" bIns="18288">
            <a:spAutoFit/>
          </a:bodyPr>
          <a:lstStyle/>
          <a:p>
            <a:pPr algn="l"/>
            <a:r>
              <a:rPr sz="1200" b="0">
                <a:solidFill>
                  <a:srgbClr val="EAF1FB"/>
                </a:solidFill>
                <a:latin typeface="Segoe UI"/>
              </a:rPr>
              <a:t>—</a:t>
            </a:r>
          </a:p>
        </p:txBody>
      </p:sp>
      <p:sp>
        <p:nvSpPr>
          <p:cNvPr id="40" name="frescura_celda_calidad_2"/>
          <p:cNvSpPr txBox="1"/>
          <p:nvPr/>
        </p:nvSpPr>
        <p:spPr>
          <a:xfrm>
            <a:off x="6041289" y="3438144"/>
            <a:ext cx="1418499" cy="603504"/>
          </a:xfrm>
          <a:prstGeom prst="rect">
            <a:avLst/>
          </a:prstGeom>
          <a:noFill/>
        </p:spPr>
        <p:txBody>
          <a:bodyPr wrap="square" anchor="ctr" lIns="73152" rIns="73152" tIns="18288" bIns="18288">
            <a:spAutoFit/>
          </a:bodyPr>
          <a:lstStyle/>
          <a:p>
            <a:pPr algn="l"/>
            <a:r>
              <a:rPr sz="1200" b="0">
                <a:solidFill>
                  <a:srgbClr val="EAF1FB"/>
                </a:solidFill>
                <a:latin typeface="Segoe UI"/>
              </a:rPr>
              <a:t>—</a:t>
            </a:r>
          </a:p>
        </p:txBody>
      </p:sp>
      <p:sp>
        <p:nvSpPr>
          <p:cNvPr id="41" name="frescura_celda_calidad_3"/>
          <p:cNvSpPr txBox="1"/>
          <p:nvPr/>
        </p:nvSpPr>
        <p:spPr>
          <a:xfrm>
            <a:off x="7459789" y="3438144"/>
            <a:ext cx="1091153" cy="603504"/>
          </a:xfrm>
          <a:prstGeom prst="rect">
            <a:avLst/>
          </a:prstGeom>
          <a:noFill/>
        </p:spPr>
        <p:txBody>
          <a:bodyPr wrap="square" anchor="ctr" lIns="73152" rIns="73152" tIns="18288" bIns="18288">
            <a:spAutoFit/>
          </a:bodyPr>
          <a:lstStyle/>
          <a:p>
            <a:pPr algn="r"/>
            <a:r>
              <a:rPr sz="1200" b="0">
                <a:solidFill>
                  <a:srgbClr val="EAF1FB"/>
                </a:solidFill>
                <a:latin typeface="Segoe UI"/>
              </a:rPr>
              <a:t>—</a:t>
            </a:r>
          </a:p>
        </p:txBody>
      </p:sp>
      <p:sp>
        <p:nvSpPr>
          <p:cNvPr id="42" name="frescura_celda_calidad_4"/>
          <p:cNvSpPr txBox="1"/>
          <p:nvPr/>
        </p:nvSpPr>
        <p:spPr>
          <a:xfrm>
            <a:off x="8550942" y="3438144"/>
            <a:ext cx="1745845" cy="603504"/>
          </a:xfrm>
          <a:prstGeom prst="rect">
            <a:avLst/>
          </a:prstGeom>
          <a:noFill/>
        </p:spPr>
        <p:txBody>
          <a:bodyPr wrap="square" anchor="ctr" lIns="73152" rIns="73152" tIns="18288" bIns="18288">
            <a:spAutoFit/>
          </a:bodyPr>
          <a:lstStyle/>
          <a:p>
            <a:pPr algn="l"/>
            <a:r>
              <a:rPr sz="1100" b="0">
                <a:solidFill>
                  <a:srgbClr val="B9C8DC"/>
                </a:solidFill>
                <a:latin typeface="Segoe UI"/>
              </a:rPr>
              <a:t>Todas las semanas</a:t>
            </a:r>
          </a:p>
        </p:txBody>
      </p:sp>
      <p:sp>
        <p:nvSpPr>
          <p:cNvPr id="43" name="frescura_chip_calidad"/>
          <p:cNvSpPr/>
          <p:nvPr/>
        </p:nvSpPr>
        <p:spPr>
          <a:xfrm>
            <a:off x="10388228" y="3566160"/>
            <a:ext cx="1071946" cy="347472"/>
          </a:xfrm>
          <a:prstGeom prst="roundRect">
            <a:avLst>
              <a:gd name="adj" fmla="val 18000"/>
            </a:avLst>
          </a:prstGeom>
          <a:solidFill>
            <a:srgbClr val="FF76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/>
          <a:lstStyle/>
          <a:p>
            <a:pPr algn="ctr"/>
            <a:r>
              <a:rPr sz="1100" b="1">
                <a:solidFill>
                  <a:srgbClr val="081527"/>
                </a:solidFill>
                <a:latin typeface="Segoe UI"/>
              </a:rPr>
              <a:t>Sin cargar</a:t>
            </a:r>
          </a:p>
        </p:txBody>
      </p:sp>
      <p:sp>
        <p:nvSpPr>
          <p:cNvPr id="44" name="frescura_fila_cartera_real"/>
          <p:cNvSpPr/>
          <p:nvPr/>
        </p:nvSpPr>
        <p:spPr>
          <a:xfrm>
            <a:off x="640080" y="4096512"/>
            <a:ext cx="10911535" cy="603504"/>
          </a:xfrm>
          <a:prstGeom prst="roundRect">
            <a:avLst>
              <a:gd name="adj" fmla="val 18000"/>
            </a:avLst>
          </a:prstGeom>
          <a:solidFill>
            <a:srgbClr val="0E1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694944" y="4187952"/>
            <a:ext cx="64008" cy="420624"/>
          </a:xfrm>
          <a:prstGeom prst="roundRect">
            <a:avLst>
              <a:gd name="adj" fmla="val 18000"/>
            </a:avLst>
          </a:prstGeom>
          <a:solidFill>
            <a:srgbClr val="FF76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frescura_celda_cartera_real_0"/>
          <p:cNvSpPr txBox="1"/>
          <p:nvPr/>
        </p:nvSpPr>
        <p:spPr>
          <a:xfrm>
            <a:off x="768096" y="4096512"/>
            <a:ext cx="3472790" cy="603504"/>
          </a:xfrm>
          <a:prstGeom prst="rect">
            <a:avLst/>
          </a:prstGeom>
          <a:noFill/>
        </p:spPr>
        <p:txBody>
          <a:bodyPr wrap="square" anchor="ctr" lIns="73152" rIns="73152" tIns="18288" bIns="18288">
            <a:spAutoFit/>
          </a:bodyPr>
          <a:lstStyle/>
          <a:p>
            <a:pPr algn="l"/>
            <a:r>
              <a:rPr sz="1250" b="1">
                <a:solidFill>
                  <a:srgbClr val="EAF1FB"/>
                </a:solidFill>
                <a:latin typeface="Segoe UI"/>
              </a:rPr>
              <a:t>Cartera real importada</a:t>
            </a:r>
          </a:p>
          <a:p>
            <a:pPr algn="l"/>
            <a:r>
              <a:rPr sz="850" b="0">
                <a:solidFill>
                  <a:srgbClr val="9DB0C8"/>
                </a:solidFill>
                <a:latin typeface="Segoe UI"/>
              </a:rPr>
              <a:t>Todavía no se cargó nunca en esta instalación.</a:t>
            </a:r>
          </a:p>
        </p:txBody>
      </p:sp>
      <p:sp>
        <p:nvSpPr>
          <p:cNvPr id="47" name="frescura_celda_cartera_real_1"/>
          <p:cNvSpPr txBox="1"/>
          <p:nvPr/>
        </p:nvSpPr>
        <p:spPr>
          <a:xfrm>
            <a:off x="4240886" y="4096512"/>
            <a:ext cx="1800403" cy="603504"/>
          </a:xfrm>
          <a:prstGeom prst="rect">
            <a:avLst/>
          </a:prstGeom>
          <a:noFill/>
        </p:spPr>
        <p:txBody>
          <a:bodyPr wrap="square" anchor="ctr" lIns="73152" rIns="73152" tIns="18288" bIns="18288">
            <a:spAutoFit/>
          </a:bodyPr>
          <a:lstStyle/>
          <a:p>
            <a:pPr algn="l"/>
            <a:r>
              <a:rPr sz="1200" b="0">
                <a:solidFill>
                  <a:srgbClr val="EAF1FB"/>
                </a:solidFill>
                <a:latin typeface="Segoe UI"/>
              </a:rPr>
              <a:t>—</a:t>
            </a:r>
          </a:p>
        </p:txBody>
      </p:sp>
      <p:sp>
        <p:nvSpPr>
          <p:cNvPr id="48" name="frescura_celda_cartera_real_2"/>
          <p:cNvSpPr txBox="1"/>
          <p:nvPr/>
        </p:nvSpPr>
        <p:spPr>
          <a:xfrm>
            <a:off x="6041289" y="4096512"/>
            <a:ext cx="1418499" cy="603504"/>
          </a:xfrm>
          <a:prstGeom prst="rect">
            <a:avLst/>
          </a:prstGeom>
          <a:noFill/>
        </p:spPr>
        <p:txBody>
          <a:bodyPr wrap="square" anchor="ctr" lIns="73152" rIns="73152" tIns="18288" bIns="18288">
            <a:spAutoFit/>
          </a:bodyPr>
          <a:lstStyle/>
          <a:p>
            <a:pPr algn="l"/>
            <a:r>
              <a:rPr sz="1200" b="0">
                <a:solidFill>
                  <a:srgbClr val="EAF1FB"/>
                </a:solidFill>
                <a:latin typeface="Segoe UI"/>
              </a:rPr>
              <a:t>—</a:t>
            </a:r>
          </a:p>
        </p:txBody>
      </p:sp>
      <p:sp>
        <p:nvSpPr>
          <p:cNvPr id="49" name="frescura_celda_cartera_real_3"/>
          <p:cNvSpPr txBox="1"/>
          <p:nvPr/>
        </p:nvSpPr>
        <p:spPr>
          <a:xfrm>
            <a:off x="7459789" y="4096512"/>
            <a:ext cx="1091153" cy="603504"/>
          </a:xfrm>
          <a:prstGeom prst="rect">
            <a:avLst/>
          </a:prstGeom>
          <a:noFill/>
        </p:spPr>
        <p:txBody>
          <a:bodyPr wrap="square" anchor="ctr" lIns="73152" rIns="73152" tIns="18288" bIns="18288">
            <a:spAutoFit/>
          </a:bodyPr>
          <a:lstStyle/>
          <a:p>
            <a:pPr algn="r"/>
            <a:r>
              <a:rPr sz="1200" b="0">
                <a:solidFill>
                  <a:srgbClr val="EAF1FB"/>
                </a:solidFill>
                <a:latin typeface="Segoe UI"/>
              </a:rPr>
              <a:t>—</a:t>
            </a:r>
          </a:p>
        </p:txBody>
      </p:sp>
      <p:sp>
        <p:nvSpPr>
          <p:cNvPr id="50" name="frescura_celda_cartera_real_4"/>
          <p:cNvSpPr txBox="1"/>
          <p:nvPr/>
        </p:nvSpPr>
        <p:spPr>
          <a:xfrm>
            <a:off x="8550942" y="4096512"/>
            <a:ext cx="1745845" cy="603504"/>
          </a:xfrm>
          <a:prstGeom prst="rect">
            <a:avLst/>
          </a:prstGeom>
          <a:noFill/>
        </p:spPr>
        <p:txBody>
          <a:bodyPr wrap="square" anchor="ctr" lIns="73152" rIns="73152" tIns="18288" bIns="18288">
            <a:spAutoFit/>
          </a:bodyPr>
          <a:lstStyle/>
          <a:p>
            <a:pPr algn="l"/>
            <a:r>
              <a:rPr sz="1100" b="0">
                <a:solidFill>
                  <a:srgbClr val="B9C8DC"/>
                </a:solidFill>
                <a:latin typeface="Segoe UI"/>
              </a:rPr>
              <a:t>Cuando alguien la sube</a:t>
            </a:r>
          </a:p>
        </p:txBody>
      </p:sp>
      <p:sp>
        <p:nvSpPr>
          <p:cNvPr id="51" name="frescura_chip_cartera_real"/>
          <p:cNvSpPr/>
          <p:nvPr/>
        </p:nvSpPr>
        <p:spPr>
          <a:xfrm>
            <a:off x="10388228" y="4224528"/>
            <a:ext cx="1071946" cy="347472"/>
          </a:xfrm>
          <a:prstGeom prst="roundRect">
            <a:avLst>
              <a:gd name="adj" fmla="val 18000"/>
            </a:avLst>
          </a:prstGeom>
          <a:solidFill>
            <a:srgbClr val="FF76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/>
          <a:lstStyle/>
          <a:p>
            <a:pPr algn="ctr"/>
            <a:r>
              <a:rPr sz="1100" b="1">
                <a:solidFill>
                  <a:srgbClr val="081527"/>
                </a:solidFill>
                <a:latin typeface="Segoe UI"/>
              </a:rPr>
              <a:t>Sin cargar</a:t>
            </a:r>
          </a:p>
        </p:txBody>
      </p:sp>
      <p:sp>
        <p:nvSpPr>
          <p:cNvPr id="52" name="frescura_fila_modelo"/>
          <p:cNvSpPr/>
          <p:nvPr/>
        </p:nvSpPr>
        <p:spPr>
          <a:xfrm>
            <a:off x="640080" y="4754880"/>
            <a:ext cx="10911535" cy="603504"/>
          </a:xfrm>
          <a:prstGeom prst="roundRect">
            <a:avLst>
              <a:gd name="adj" fmla="val 18000"/>
            </a:avLst>
          </a:prstGeom>
          <a:solidFill>
            <a:srgbClr val="0E1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694944" y="4846320"/>
            <a:ext cx="64008" cy="420624"/>
          </a:xfrm>
          <a:prstGeom prst="roundRect">
            <a:avLst>
              <a:gd name="adj" fmla="val 18000"/>
            </a:avLst>
          </a:prstGeom>
          <a:solidFill>
            <a:srgbClr val="00C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frescura_celda_modelo_0"/>
          <p:cNvSpPr txBox="1"/>
          <p:nvPr/>
        </p:nvSpPr>
        <p:spPr>
          <a:xfrm>
            <a:off x="768096" y="4754880"/>
            <a:ext cx="3472790" cy="603504"/>
          </a:xfrm>
          <a:prstGeom prst="rect">
            <a:avLst/>
          </a:prstGeom>
          <a:noFill/>
        </p:spPr>
        <p:txBody>
          <a:bodyPr wrap="square" anchor="ctr" lIns="73152" rIns="73152" tIns="18288" bIns="18288">
            <a:spAutoFit/>
          </a:bodyPr>
          <a:lstStyle/>
          <a:p>
            <a:pPr algn="l"/>
            <a:r>
              <a:rPr sz="1250" b="1">
                <a:solidFill>
                  <a:srgbClr val="EAF1FB"/>
                </a:solidFill>
                <a:latin typeface="Segoe UI"/>
              </a:rPr>
              <a:t>Modelo ProbPago entrenado</a:t>
            </a:r>
          </a:p>
          <a:p>
            <a:pPr algn="l"/>
            <a:r>
              <a:rPr sz="850" b="0">
                <a:solidFill>
                  <a:srgbClr val="9DB0C8"/>
                </a:solidFill>
                <a:latin typeface="Segoe UI"/>
              </a:rPr>
              <a:t>Próxima carga esperada: 2026-10-05 12:43</a:t>
            </a:r>
          </a:p>
        </p:txBody>
      </p:sp>
      <p:sp>
        <p:nvSpPr>
          <p:cNvPr id="55" name="frescura_celda_modelo_1"/>
          <p:cNvSpPr txBox="1"/>
          <p:nvPr/>
        </p:nvSpPr>
        <p:spPr>
          <a:xfrm>
            <a:off x="4240886" y="4754880"/>
            <a:ext cx="1800403" cy="603504"/>
          </a:xfrm>
          <a:prstGeom prst="rect">
            <a:avLst/>
          </a:prstGeom>
          <a:noFill/>
        </p:spPr>
        <p:txBody>
          <a:bodyPr wrap="square" anchor="ctr" lIns="73152" rIns="73152" tIns="18288" bIns="18288">
            <a:spAutoFit/>
          </a:bodyPr>
          <a:lstStyle/>
          <a:p>
            <a:pPr algn="l"/>
            <a:r>
              <a:rPr sz="1200" b="0">
                <a:solidFill>
                  <a:srgbClr val="EAF1FB"/>
                </a:solidFill>
                <a:latin typeface="Segoe UI"/>
              </a:rPr>
              <a:t>2026-09-05 12:43</a:t>
            </a:r>
          </a:p>
          <a:p>
            <a:pPr algn="l"/>
            <a:r>
              <a:rPr sz="900" b="0">
                <a:solidFill>
                  <a:srgbClr val="9DB0C8"/>
                </a:solidFill>
                <a:latin typeface="Segoe UI"/>
              </a:rPr>
              <a:t>sábado</a:t>
            </a:r>
          </a:p>
        </p:txBody>
      </p:sp>
      <p:sp>
        <p:nvSpPr>
          <p:cNvPr id="56" name="frescura_celda_modelo_2"/>
          <p:cNvSpPr txBox="1"/>
          <p:nvPr/>
        </p:nvSpPr>
        <p:spPr>
          <a:xfrm>
            <a:off x="6041289" y="4754880"/>
            <a:ext cx="1418499" cy="603504"/>
          </a:xfrm>
          <a:prstGeom prst="rect">
            <a:avLst/>
          </a:prstGeom>
          <a:noFill/>
        </p:spPr>
        <p:txBody>
          <a:bodyPr wrap="square" anchor="ctr" lIns="73152" rIns="73152" tIns="18288" bIns="18288">
            <a:spAutoFit/>
          </a:bodyPr>
          <a:lstStyle/>
          <a:p>
            <a:pPr algn="l"/>
            <a:r>
              <a:rPr sz="1200" b="0">
                <a:solidFill>
                  <a:srgbClr val="EAF1FB"/>
                </a:solidFill>
                <a:latin typeface="Segoe UI"/>
              </a:rPr>
              <a:t>—</a:t>
            </a:r>
          </a:p>
        </p:txBody>
      </p:sp>
      <p:sp>
        <p:nvSpPr>
          <p:cNvPr id="57" name="frescura_celda_modelo_3"/>
          <p:cNvSpPr txBox="1"/>
          <p:nvPr/>
        </p:nvSpPr>
        <p:spPr>
          <a:xfrm>
            <a:off x="7459789" y="4754880"/>
            <a:ext cx="1091153" cy="603504"/>
          </a:xfrm>
          <a:prstGeom prst="rect">
            <a:avLst/>
          </a:prstGeom>
          <a:noFill/>
        </p:spPr>
        <p:txBody>
          <a:bodyPr wrap="square" anchor="ctr" lIns="73152" rIns="73152" tIns="18288" bIns="18288">
            <a:spAutoFit/>
          </a:bodyPr>
          <a:lstStyle/>
          <a:p>
            <a:pPr algn="r"/>
            <a:r>
              <a:rPr sz="1200" b="0">
                <a:solidFill>
                  <a:srgbClr val="EAF1FB"/>
                </a:solidFill>
                <a:latin typeface="Segoe UI"/>
              </a:rPr>
              <a:t>—</a:t>
            </a:r>
          </a:p>
        </p:txBody>
      </p:sp>
      <p:sp>
        <p:nvSpPr>
          <p:cNvPr id="58" name="frescura_celda_modelo_4"/>
          <p:cNvSpPr txBox="1"/>
          <p:nvPr/>
        </p:nvSpPr>
        <p:spPr>
          <a:xfrm>
            <a:off x="8550942" y="4754880"/>
            <a:ext cx="1745845" cy="603504"/>
          </a:xfrm>
          <a:prstGeom prst="rect">
            <a:avLst/>
          </a:prstGeom>
          <a:noFill/>
        </p:spPr>
        <p:txBody>
          <a:bodyPr wrap="square" anchor="ctr" lIns="73152" rIns="73152" tIns="18288" bIns="18288">
            <a:spAutoFit/>
          </a:bodyPr>
          <a:lstStyle/>
          <a:p>
            <a:pPr algn="l"/>
            <a:r>
              <a:rPr sz="1100" b="0">
                <a:solidFill>
                  <a:srgbClr val="B9C8DC"/>
                </a:solidFill>
                <a:latin typeface="Segoe UI"/>
              </a:rPr>
              <a:t>Todos los meses</a:t>
            </a:r>
          </a:p>
        </p:txBody>
      </p:sp>
      <p:sp>
        <p:nvSpPr>
          <p:cNvPr id="59" name="frescura_chip_modelo"/>
          <p:cNvSpPr/>
          <p:nvPr/>
        </p:nvSpPr>
        <p:spPr>
          <a:xfrm>
            <a:off x="10388228" y="4882896"/>
            <a:ext cx="1071946" cy="347472"/>
          </a:xfrm>
          <a:prstGeom prst="roundRect">
            <a:avLst>
              <a:gd name="adj" fmla="val 18000"/>
            </a:avLst>
          </a:prstGeom>
          <a:solidFill>
            <a:srgbClr val="00C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/>
          <a:lstStyle/>
          <a:p>
            <a:pPr algn="ctr"/>
            <a:r>
              <a:rPr sz="1100" b="1">
                <a:solidFill>
                  <a:srgbClr val="081527"/>
                </a:solidFill>
                <a:latin typeface="Segoe UI"/>
              </a:rPr>
              <a:t>Al día</a:t>
            </a:r>
          </a:p>
        </p:txBody>
      </p:sp>
      <p:sp>
        <p:nvSpPr>
          <p:cNvPr id="60" name="frescura_fila_gestiones"/>
          <p:cNvSpPr/>
          <p:nvPr/>
        </p:nvSpPr>
        <p:spPr>
          <a:xfrm>
            <a:off x="640080" y="5413248"/>
            <a:ext cx="10911535" cy="603504"/>
          </a:xfrm>
          <a:prstGeom prst="roundRect">
            <a:avLst>
              <a:gd name="adj" fmla="val 18000"/>
            </a:avLst>
          </a:prstGeom>
          <a:solidFill>
            <a:srgbClr val="0E1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694944" y="5504688"/>
            <a:ext cx="64008" cy="420624"/>
          </a:xfrm>
          <a:prstGeom prst="roundRect">
            <a:avLst>
              <a:gd name="adj" fmla="val 18000"/>
            </a:avLst>
          </a:prstGeom>
          <a:solidFill>
            <a:srgbClr val="00C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frescura_celda_gestiones_0"/>
          <p:cNvSpPr txBox="1"/>
          <p:nvPr/>
        </p:nvSpPr>
        <p:spPr>
          <a:xfrm>
            <a:off x="768096" y="5413248"/>
            <a:ext cx="3472790" cy="603504"/>
          </a:xfrm>
          <a:prstGeom prst="rect">
            <a:avLst/>
          </a:prstGeom>
          <a:noFill/>
        </p:spPr>
        <p:txBody>
          <a:bodyPr wrap="square" anchor="ctr" lIns="73152" rIns="73152" tIns="18288" bIns="18288">
            <a:spAutoFit/>
          </a:bodyPr>
          <a:lstStyle/>
          <a:p>
            <a:pPr algn="l"/>
            <a:r>
              <a:rPr sz="1250" b="1">
                <a:solidFill>
                  <a:srgbClr val="EAF1FB"/>
                </a:solidFill>
                <a:latin typeface="Segoe UI"/>
              </a:rPr>
              <a:t>Historial de gestiones</a:t>
            </a:r>
          </a:p>
          <a:p>
            <a:pPr algn="l"/>
            <a:r>
              <a:rPr sz="850" b="0">
                <a:solidFill>
                  <a:srgbClr val="9DB0C8"/>
                </a:solidFill>
                <a:latin typeface="Segoe UI"/>
              </a:rPr>
              <a:t>Próxima carga esperada: 2026-09-24 19:28</a:t>
            </a:r>
          </a:p>
        </p:txBody>
      </p:sp>
      <p:sp>
        <p:nvSpPr>
          <p:cNvPr id="63" name="frescura_celda_gestiones_1"/>
          <p:cNvSpPr txBox="1"/>
          <p:nvPr/>
        </p:nvSpPr>
        <p:spPr>
          <a:xfrm>
            <a:off x="4240886" y="5413248"/>
            <a:ext cx="1800403" cy="603504"/>
          </a:xfrm>
          <a:prstGeom prst="rect">
            <a:avLst/>
          </a:prstGeom>
          <a:noFill/>
        </p:spPr>
        <p:txBody>
          <a:bodyPr wrap="square" anchor="ctr" lIns="73152" rIns="73152" tIns="18288" bIns="18288">
            <a:spAutoFit/>
          </a:bodyPr>
          <a:lstStyle/>
          <a:p>
            <a:pPr algn="l"/>
            <a:r>
              <a:rPr sz="1200" b="0">
                <a:solidFill>
                  <a:srgbClr val="EAF1FB"/>
                </a:solidFill>
                <a:latin typeface="Segoe UI"/>
              </a:rPr>
              <a:t>2026-09-23 19:28</a:t>
            </a:r>
          </a:p>
          <a:p>
            <a:pPr algn="l"/>
            <a:r>
              <a:rPr sz="900" b="0">
                <a:solidFill>
                  <a:srgbClr val="9DB0C8"/>
                </a:solidFill>
                <a:latin typeface="Segoe UI"/>
              </a:rPr>
              <a:t>miércoles</a:t>
            </a:r>
          </a:p>
        </p:txBody>
      </p:sp>
      <p:sp>
        <p:nvSpPr>
          <p:cNvPr id="64" name="frescura_celda_gestiones_2"/>
          <p:cNvSpPr txBox="1"/>
          <p:nvPr/>
        </p:nvSpPr>
        <p:spPr>
          <a:xfrm>
            <a:off x="6041289" y="5413248"/>
            <a:ext cx="1418499" cy="603504"/>
          </a:xfrm>
          <a:prstGeom prst="rect">
            <a:avLst/>
          </a:prstGeom>
          <a:noFill/>
        </p:spPr>
        <p:txBody>
          <a:bodyPr wrap="square" anchor="ctr" lIns="73152" rIns="73152" tIns="18288" bIns="18288">
            <a:spAutoFit/>
          </a:bodyPr>
          <a:lstStyle/>
          <a:p>
            <a:pPr algn="l"/>
            <a:r>
              <a:rPr sz="1200" b="0">
                <a:solidFill>
                  <a:srgbClr val="EAF1FB"/>
                </a:solidFill>
                <a:latin typeface="Segoe UI"/>
              </a:rPr>
              <a:t>2026-06-30</a:t>
            </a:r>
          </a:p>
        </p:txBody>
      </p:sp>
      <p:sp>
        <p:nvSpPr>
          <p:cNvPr id="65" name="frescura_celda_gestiones_3"/>
          <p:cNvSpPr txBox="1"/>
          <p:nvPr/>
        </p:nvSpPr>
        <p:spPr>
          <a:xfrm>
            <a:off x="7459789" y="5413248"/>
            <a:ext cx="1091153" cy="603504"/>
          </a:xfrm>
          <a:prstGeom prst="rect">
            <a:avLst/>
          </a:prstGeom>
          <a:noFill/>
        </p:spPr>
        <p:txBody>
          <a:bodyPr wrap="square" anchor="ctr" lIns="73152" rIns="73152" tIns="18288" bIns="18288">
            <a:spAutoFit/>
          </a:bodyPr>
          <a:lstStyle/>
          <a:p>
            <a:pPr algn="r"/>
            <a:r>
              <a:rPr sz="1200" b="0">
                <a:solidFill>
                  <a:srgbClr val="EAF1FB"/>
                </a:solidFill>
                <a:latin typeface="Segoe UI"/>
              </a:rPr>
              <a:t>7.259</a:t>
            </a:r>
          </a:p>
        </p:txBody>
      </p:sp>
      <p:sp>
        <p:nvSpPr>
          <p:cNvPr id="66" name="frescura_celda_gestiones_4"/>
          <p:cNvSpPr txBox="1"/>
          <p:nvPr/>
        </p:nvSpPr>
        <p:spPr>
          <a:xfrm>
            <a:off x="8550942" y="5413248"/>
            <a:ext cx="1745845" cy="603504"/>
          </a:xfrm>
          <a:prstGeom prst="rect">
            <a:avLst/>
          </a:prstGeom>
          <a:noFill/>
        </p:spPr>
        <p:txBody>
          <a:bodyPr wrap="square" anchor="ctr" lIns="73152" rIns="73152" tIns="18288" bIns="18288">
            <a:spAutoFit/>
          </a:bodyPr>
          <a:lstStyle/>
          <a:p>
            <a:pPr algn="l"/>
            <a:r>
              <a:rPr sz="1100" b="0">
                <a:solidFill>
                  <a:srgbClr val="B9C8DC"/>
                </a:solidFill>
                <a:latin typeface="Segoe UI"/>
              </a:rPr>
              <a:t>Todos los días</a:t>
            </a:r>
          </a:p>
        </p:txBody>
      </p:sp>
      <p:sp>
        <p:nvSpPr>
          <p:cNvPr id="67" name="frescura_chip_gestiones"/>
          <p:cNvSpPr/>
          <p:nvPr/>
        </p:nvSpPr>
        <p:spPr>
          <a:xfrm>
            <a:off x="10388228" y="5541264"/>
            <a:ext cx="1071946" cy="347472"/>
          </a:xfrm>
          <a:prstGeom prst="roundRect">
            <a:avLst>
              <a:gd name="adj" fmla="val 18000"/>
            </a:avLst>
          </a:prstGeom>
          <a:solidFill>
            <a:srgbClr val="00C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/>
          <a:lstStyle/>
          <a:p>
            <a:pPr algn="ctr"/>
            <a:r>
              <a:rPr sz="1100" b="1">
                <a:solidFill>
                  <a:srgbClr val="081527"/>
                </a:solidFill>
                <a:latin typeface="Segoe UI"/>
              </a:rPr>
              <a:t>Al día</a:t>
            </a:r>
          </a:p>
        </p:txBody>
      </p:sp>
      <p:sp>
        <p:nvSpPr>
          <p:cNvPr id="68" name="frescura_leyenda_al_dia"/>
          <p:cNvSpPr/>
          <p:nvPr/>
        </p:nvSpPr>
        <p:spPr>
          <a:xfrm>
            <a:off x="640080" y="6291072"/>
            <a:ext cx="164592" cy="164592"/>
          </a:xfrm>
          <a:prstGeom prst="ellipse">
            <a:avLst/>
          </a:prstGeom>
          <a:solidFill>
            <a:srgbClr val="00C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22959" y="6144768"/>
            <a:ext cx="1234440" cy="457200"/>
          </a:xfrm>
          <a:prstGeom prst="rect">
            <a:avLst/>
          </a:prstGeom>
          <a:noFill/>
        </p:spPr>
        <p:txBody>
          <a:bodyPr wrap="square" anchor="ctr" lIns="73152" rIns="73152" tIns="18288" bIns="18288">
            <a:spAutoFit/>
          </a:bodyPr>
          <a:lstStyle/>
          <a:p>
            <a:pPr algn="l"/>
            <a:r>
              <a:rPr sz="1100" b="1">
                <a:solidFill>
                  <a:srgbClr val="B9C8DC"/>
                </a:solidFill>
                <a:latin typeface="Segoe UI"/>
              </a:rPr>
              <a:t>Al día</a:t>
            </a:r>
          </a:p>
        </p:txBody>
      </p:sp>
      <p:sp>
        <p:nvSpPr>
          <p:cNvPr id="70" name="frescura_leyenda_atrasada"/>
          <p:cNvSpPr/>
          <p:nvPr/>
        </p:nvSpPr>
        <p:spPr>
          <a:xfrm>
            <a:off x="2103120" y="6291072"/>
            <a:ext cx="164592" cy="164592"/>
          </a:xfrm>
          <a:prstGeom prst="ellipse">
            <a:avLst/>
          </a:prstGeom>
          <a:solidFill>
            <a:srgbClr val="F2B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286000" y="6144768"/>
            <a:ext cx="1234440" cy="457200"/>
          </a:xfrm>
          <a:prstGeom prst="rect">
            <a:avLst/>
          </a:prstGeom>
          <a:noFill/>
        </p:spPr>
        <p:txBody>
          <a:bodyPr wrap="square" anchor="ctr" lIns="73152" rIns="73152" tIns="18288" bIns="18288">
            <a:spAutoFit/>
          </a:bodyPr>
          <a:lstStyle/>
          <a:p>
            <a:pPr algn="l"/>
            <a:r>
              <a:rPr sz="1100" b="1">
                <a:solidFill>
                  <a:srgbClr val="B9C8DC"/>
                </a:solidFill>
                <a:latin typeface="Segoe UI"/>
              </a:rPr>
              <a:t>Atrasada</a:t>
            </a:r>
          </a:p>
        </p:txBody>
      </p:sp>
      <p:sp>
        <p:nvSpPr>
          <p:cNvPr id="72" name="frescura_leyenda_sin_datos"/>
          <p:cNvSpPr/>
          <p:nvPr/>
        </p:nvSpPr>
        <p:spPr>
          <a:xfrm>
            <a:off x="3566160" y="6291072"/>
            <a:ext cx="164592" cy="164592"/>
          </a:xfrm>
          <a:prstGeom prst="ellipse">
            <a:avLst/>
          </a:prstGeom>
          <a:solidFill>
            <a:srgbClr val="FF76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749039" y="6144768"/>
            <a:ext cx="1234440" cy="457200"/>
          </a:xfrm>
          <a:prstGeom prst="rect">
            <a:avLst/>
          </a:prstGeom>
          <a:noFill/>
        </p:spPr>
        <p:txBody>
          <a:bodyPr wrap="square" anchor="ctr" lIns="73152" rIns="73152" tIns="18288" bIns="18288">
            <a:spAutoFit/>
          </a:bodyPr>
          <a:lstStyle/>
          <a:p>
            <a:pPr algn="l"/>
            <a:r>
              <a:rPr sz="1100" b="1">
                <a:solidFill>
                  <a:srgbClr val="B9C8DC"/>
                </a:solidFill>
                <a:latin typeface="Segoe UI"/>
              </a:rPr>
              <a:t>Sin cargar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029200" y="6144768"/>
            <a:ext cx="6522414" cy="457200"/>
          </a:xfrm>
          <a:prstGeom prst="rect">
            <a:avLst/>
          </a:prstGeom>
          <a:noFill/>
        </p:spPr>
        <p:txBody>
          <a:bodyPr wrap="square" anchor="ctr" lIns="73152" rIns="73152" tIns="18288" bIns="18288">
            <a:spAutoFit/>
          </a:bodyPr>
          <a:lstStyle/>
          <a:p>
            <a:pPr algn="l"/>
            <a:r>
              <a:rPr sz="1000" b="0">
                <a:solidFill>
                  <a:srgbClr val="9DB0C8"/>
                </a:solidFill>
                <a:latin typeface="Segoe UI"/>
              </a:rPr>
              <a:t>Umbral de atraso (período esperado × 1,5):  diaria &gt; 36 horas  ·  semanal &gt; 10 días  ·  mensual &gt; 45 días  ·  manual: no vence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5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C896"/>
                </a:solidFill>
                <a:latin typeface="Segoe UI"/>
              </a:rPr>
              <a:t>Dashboard · Visión general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DB0C8"/>
                </a:solidFill>
                <a:latin typeface="Segoe UI"/>
              </a:rPr>
              <a:t>KPIs en vivo, filtros dinámicos y gráficos de cartera vs. recupero.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17320"/>
            <a:ext cx="11201400" cy="5074920"/>
          </a:xfrm>
          <a:prstGeom prst="roundRect">
            <a:avLst/>
          </a:prstGeom>
          <a:noFill/>
          <a:ln w="12700">
            <a:solidFill>
              <a:srgbClr val="215E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ashboard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54480"/>
            <a:ext cx="10927080" cy="751236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5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C896"/>
                </a:solidFill>
                <a:latin typeface="Segoe UI"/>
              </a:rPr>
              <a:t>Agente IA Negociador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DB0C8"/>
                </a:solidFill>
                <a:latin typeface="Segoe UI"/>
              </a:rPr>
              <a:t>Estrategias recomendadas y simulador de negociación con guion por deudor.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17320"/>
            <a:ext cx="11201400" cy="5074920"/>
          </a:xfrm>
          <a:prstGeom prst="roundRect">
            <a:avLst/>
          </a:prstGeom>
          <a:noFill/>
          <a:ln w="12700">
            <a:solidFill>
              <a:srgbClr val="215E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ashboard_negociad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54480"/>
            <a:ext cx="10927080" cy="751236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5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C896"/>
                </a:solidFill>
                <a:latin typeface="Segoe UI"/>
              </a:rPr>
              <a:t>Cartera priorizada + Export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DB0C8"/>
                </a:solidFill>
                <a:latin typeface="Segoe UI"/>
              </a:rPr>
              <a:t>Ranking por valor esperado y exportación a Excel/CSV para reporting.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17320"/>
            <a:ext cx="11201400" cy="5074920"/>
          </a:xfrm>
          <a:prstGeom prst="roundRect">
            <a:avLst/>
          </a:prstGeom>
          <a:noFill/>
          <a:ln w="12700">
            <a:solidFill>
              <a:srgbClr val="215E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ashboard_carte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54480"/>
            <a:ext cx="10927080" cy="751236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5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C896"/>
                </a:solidFill>
                <a:latin typeface="Segoe UI"/>
              </a:rPr>
              <a:t>Copiloto de Negociación en Vivo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DB0C8"/>
                </a:solidFill>
                <a:latin typeface="Segoe UI"/>
              </a:rPr>
              <a:t>Sentimiento del cliente turno a turno, técnicas del gestor y la próxima jugada sugerida.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17320"/>
            <a:ext cx="11201400" cy="5074920"/>
          </a:xfrm>
          <a:prstGeom prst="roundRect">
            <a:avLst/>
          </a:prstGeom>
          <a:noFill/>
          <a:ln w="12700">
            <a:solidFill>
              <a:srgbClr val="215E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ashboard_copiloto_detal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54480"/>
            <a:ext cx="10927080" cy="682942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5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C896"/>
                </a:solidFill>
                <a:latin typeface="Segoe UI"/>
              </a:rPr>
              <a:t>Asistencia en vivo durante la llamada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DB0C8"/>
                </a:solidFill>
                <a:latin typeface="Segoe UI"/>
              </a:rPr>
              <a:t>Escucha la llamada telefónica, transcribe y asesora al gestor en tiempo real.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17320"/>
            <a:ext cx="11201400" cy="5074920"/>
          </a:xfrm>
          <a:prstGeom prst="roundRect">
            <a:avLst/>
          </a:prstGeom>
          <a:noFill/>
          <a:ln w="12700">
            <a:solidFill>
              <a:srgbClr val="215E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realtime_copilo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54480"/>
            <a:ext cx="10927080" cy="72847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5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C896"/>
                </a:solidFill>
                <a:latin typeface="Segoe UI"/>
              </a:rPr>
              <a:t>Voz: diarización + emoción acústica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DB0C8"/>
                </a:solidFill>
                <a:latin typeface="Segoe UI"/>
              </a:rPr>
              <a:t>Separa quién habla y detecta la tensión del cliente en la voz, más allá de las palabras.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17320"/>
            <a:ext cx="11201400" cy="5074920"/>
          </a:xfrm>
          <a:prstGeom prst="roundRect">
            <a:avLst/>
          </a:prstGeom>
          <a:noFill/>
          <a:ln w="12700">
            <a:solidFill>
              <a:srgbClr val="215E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ashboard_voz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54480"/>
            <a:ext cx="10927080" cy="717089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5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C896"/>
                </a:solidFill>
                <a:latin typeface="Segoe UI"/>
              </a:rPr>
              <a:t>Integración telefónica + transcripción por hablante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DB0C8"/>
                </a:solidFill>
                <a:latin typeface="Segoe UI"/>
              </a:rPr>
              <a:t>Conecta al audio de la central (Avaya, Genesys…); transcribe por hablante y fusiona voz + texto.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17320"/>
            <a:ext cx="11201400" cy="5074920"/>
          </a:xfrm>
          <a:prstGeom prst="roundRect">
            <a:avLst/>
          </a:prstGeom>
          <a:noFill/>
          <a:ln w="12700">
            <a:solidFill>
              <a:srgbClr val="215E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realtime_telefon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54480"/>
            <a:ext cx="10927080" cy="825358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5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C896"/>
                </a:solidFill>
                <a:latin typeface="Segoe UI"/>
              </a:rPr>
              <a:t>Streaming en vivo durante la llamada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DB0C8"/>
                </a:solidFill>
                <a:latin typeface="Segoe UI"/>
              </a:rPr>
              <a:t>SIPREC / Twilio Media Streams / Avaya DMCC: asesoría turno a turno mientras la llamada ocurre.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17320"/>
            <a:ext cx="11201400" cy="5074920"/>
          </a:xfrm>
          <a:prstGeom prst="roundRect">
            <a:avLst/>
          </a:prstGeom>
          <a:noFill/>
          <a:ln w="12700">
            <a:solidFill>
              <a:srgbClr val="215E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realtime_st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54480"/>
            <a:ext cx="10927080" cy="1032609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5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C896"/>
                </a:solidFill>
                <a:latin typeface="Segoe UI"/>
              </a:rPr>
              <a:t>Gestores &amp; Evolución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DB0C8"/>
                </a:solidFill>
                <a:latin typeface="Segoe UI"/>
              </a:rPr>
              <a:t>Impacto de MV Kobra AI en calidad, conversión y recupero; evolución mes a mes por gestor.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17320"/>
            <a:ext cx="11201400" cy="5074920"/>
          </a:xfrm>
          <a:prstGeom prst="roundRect">
            <a:avLst/>
          </a:prstGeom>
          <a:noFill/>
          <a:ln w="12700">
            <a:solidFill>
              <a:srgbClr val="215E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ashboard_gesto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54480"/>
            <a:ext cx="10927080" cy="956119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5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EAF1FB"/>
                </a:solidFill>
                <a:latin typeface="Segoe UI"/>
              </a:rPr>
              <a:t>Cómo se mide el impacto de MV Kobra AI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280160"/>
            <a:ext cx="137160" cy="640080"/>
          </a:xfrm>
          <a:prstGeom prst="roundRect">
            <a:avLst/>
          </a:prstGeom>
          <a:solidFill>
            <a:srgbClr val="00C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2B441"/>
                </a:solidFill>
                <a:latin typeface="Segoe UI"/>
              </a:rPr>
              <a:t>Metodología: gestores con MV Kobra AI vs. grupo de control, mismo período. Cifras ILUSTRATIVAS sobre datos sintéticos — no son resultados medidos.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377440"/>
            <a:ext cx="3566160" cy="2194560"/>
          </a:xfrm>
          <a:prstGeom prst="roundRect">
            <a:avLst/>
          </a:prstGeom>
          <a:solidFill>
            <a:srgbClr val="0E1E34"/>
          </a:solidFill>
          <a:ln w="12700">
            <a:solidFill>
              <a:srgbClr val="00C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880360"/>
            <a:ext cx="3566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400" b="1">
                <a:solidFill>
                  <a:srgbClr val="00C896"/>
                </a:solidFill>
                <a:latin typeface="Segoe UI"/>
              </a:rPr>
              <a:t>+14.7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931920"/>
            <a:ext cx="3566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9DB0C8"/>
                </a:solidFill>
                <a:latin typeface="Segoe UI"/>
              </a:rPr>
              <a:t>puntos de calidad de gestión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2377440"/>
            <a:ext cx="3566160" cy="2194560"/>
          </a:xfrm>
          <a:prstGeom prst="roundRect">
            <a:avLst/>
          </a:prstGeom>
          <a:solidFill>
            <a:srgbClr val="0E1E34"/>
          </a:solidFill>
          <a:ln w="12700">
            <a:solidFill>
              <a:srgbClr val="215E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4840" y="2880360"/>
            <a:ext cx="3566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400" b="1">
                <a:solidFill>
                  <a:srgbClr val="215EA3"/>
                </a:solidFill>
                <a:latin typeface="Segoe UI"/>
              </a:rPr>
              <a:t>+10.3 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3931920"/>
            <a:ext cx="3566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9DB0C8"/>
                </a:solidFill>
                <a:latin typeface="Segoe UI"/>
              </a:rPr>
              <a:t>tasa de conversión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2377440"/>
            <a:ext cx="3566160" cy="2194560"/>
          </a:xfrm>
          <a:prstGeom prst="roundRect">
            <a:avLst/>
          </a:prstGeom>
          <a:solidFill>
            <a:srgbClr val="0E1E34"/>
          </a:solidFill>
          <a:ln w="12700">
            <a:solidFill>
              <a:srgbClr val="F2B4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2880360"/>
            <a:ext cx="3566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400" b="1">
                <a:solidFill>
                  <a:srgbClr val="F2B441"/>
                </a:solidFill>
                <a:latin typeface="Segoe UI"/>
              </a:rPr>
              <a:t>+8.5 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3931920"/>
            <a:ext cx="3566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9DB0C8"/>
                </a:solidFill>
                <a:latin typeface="Segoe UI"/>
              </a:rPr>
              <a:t>tasa de recupero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12064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EAF1FB"/>
                </a:solidFill>
                <a:latin typeface="Segoe UI"/>
              </a:rPr>
              <a:t>Con MV Kobra AI: calidad 74 · conversión 71% · recupero 46%   |   Sin MV Kobra AI: calidad 60 · conversión 61% · recupero 37%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85216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00C896"/>
                </a:solidFill>
                <a:latin typeface="Segoe UI"/>
              </a:rPr>
              <a:t>En un piloto real, este mismo análisis (control vs. adopción) produce el impacto MEDIDO — esa es la evidencia que se presenta, no esta simulación.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5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EAF1FB"/>
                </a:solidFill>
                <a:latin typeface="Segoe UI"/>
              </a:rPr>
              <a:t>Por qué MV Kobra AI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280160"/>
            <a:ext cx="137160" cy="640080"/>
          </a:xfrm>
          <a:prstGeom prst="roundRect">
            <a:avLst/>
          </a:prstGeom>
          <a:solidFill>
            <a:srgbClr val="00C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900">
                <a:solidFill>
                  <a:srgbClr val="00C896"/>
                </a:solidFill>
                <a:latin typeface="Segoe UI"/>
              </a:rPr>
              <a:t>▸  Más recupero: prioriza por valor esperado, no por antigüedad de la deuda.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00C896"/>
                </a:solidFill>
                <a:latin typeface="Segoe UI"/>
              </a:rPr>
              <a:t>▸  Asistencia en vivo: análisis de sentimiento de voz/WhatsApp que guía al gestor en la negociación.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00C896"/>
                </a:solidFill>
                <a:latin typeface="Segoe UI"/>
              </a:rPr>
              <a:t>▸  Menos costo: automatiza estrategia y guiones; el gestor solo ejecuta.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00C896"/>
                </a:solidFill>
                <a:latin typeface="Segoe UI"/>
              </a:rPr>
              <a:t>▸  Decisiones con datos: ML de probabilidad de pago con selección de modelos y calibración.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00C896"/>
                </a:solidFill>
                <a:latin typeface="Segoe UI"/>
              </a:rPr>
              <a:t>▸  Listo para Uruguay: pensado para el mercado local, sin datos personales sensibles.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00C896"/>
                </a:solidFill>
                <a:latin typeface="Segoe UI"/>
              </a:rPr>
              <a:t>▸  Agnóstico de industria: banca, financieras, retail, telco, utilities, fintech.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5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EAF1FB"/>
                </a:solidFill>
                <a:latin typeface="Segoe UI"/>
              </a:rPr>
              <a:t>Listo para producción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280160"/>
            <a:ext cx="137160" cy="640080"/>
          </a:xfrm>
          <a:prstGeom prst="roundRect">
            <a:avLst/>
          </a:prstGeom>
          <a:solidFill>
            <a:srgbClr val="00C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1828800"/>
            <a:ext cx="4206240" cy="786384"/>
          </a:xfrm>
          <a:prstGeom prst="roundRect">
            <a:avLst/>
          </a:prstGeom>
          <a:solidFill>
            <a:srgbClr val="0E1E34"/>
          </a:solidFill>
          <a:ln w="12700">
            <a:solidFill>
              <a:srgbClr val="00C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75104"/>
            <a:ext cx="3931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0C896"/>
                </a:solidFill>
                <a:latin typeface="Segoe UI"/>
              </a:rPr>
              <a:t>🐳 Despliegue en 1 comando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0" y="1920240"/>
            <a:ext cx="6217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EAF1FB"/>
                </a:solidFill>
                <a:latin typeface="Segoe UI"/>
              </a:rPr>
              <a:t>docker compose up: dashboard + servicio de audio en vivo, con datos y modelo autogenerados.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724912"/>
            <a:ext cx="4206240" cy="786384"/>
          </a:xfrm>
          <a:prstGeom prst="roundRect">
            <a:avLst/>
          </a:prstGeom>
          <a:solidFill>
            <a:srgbClr val="0E1E34"/>
          </a:solidFill>
          <a:ln w="12700">
            <a:solidFill>
              <a:srgbClr val="00C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871216"/>
            <a:ext cx="3931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0C896"/>
                </a:solidFill>
                <a:latin typeface="Segoe UI"/>
              </a:rPr>
              <a:t>🔑 API keys persistentes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2816352"/>
            <a:ext cx="6217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EAF1FB"/>
                </a:solidFill>
                <a:latin typeface="Segoe UI"/>
              </a:rPr>
              <a:t>Se cargan una vez desde la pestaña Configuración (o por variables de entorno) y quedan guardadas.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621024"/>
            <a:ext cx="4206240" cy="786384"/>
          </a:xfrm>
          <a:prstGeom prst="roundRect">
            <a:avLst/>
          </a:prstGeom>
          <a:solidFill>
            <a:srgbClr val="0E1E34"/>
          </a:solidFill>
          <a:ln w="12700">
            <a:solidFill>
              <a:srgbClr val="00C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767328"/>
            <a:ext cx="3931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0C896"/>
                </a:solidFill>
                <a:latin typeface="Segoe UI"/>
              </a:rPr>
              <a:t>☎️ Integración telefónica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0" y="3712464"/>
            <a:ext cx="6217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EAF1FB"/>
                </a:solidFill>
                <a:latin typeface="Segoe UI"/>
              </a:rPr>
              <a:t>Conectores para Avaya/Genesys/Twilio (SIPREC · Media Streams · DMCC) — grabación o streaming en vivo.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517136"/>
            <a:ext cx="4206240" cy="786384"/>
          </a:xfrm>
          <a:prstGeom prst="roundRect">
            <a:avLst/>
          </a:prstGeom>
          <a:solidFill>
            <a:srgbClr val="0E1E34"/>
          </a:solidFill>
          <a:ln w="12700">
            <a:solidFill>
              <a:srgbClr val="00C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663440"/>
            <a:ext cx="3931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0C896"/>
                </a:solidFill>
                <a:latin typeface="Segoe UI"/>
              </a:rPr>
              <a:t>✅ Calidad asegurada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4608576"/>
            <a:ext cx="6217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EAF1FB"/>
                </a:solidFill>
                <a:latin typeface="Segoe UI"/>
              </a:rPr>
              <a:t>Suite de tests + CI (GitHub Actions) y reentrenamiento programado del modelo ProbPago.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5413248"/>
            <a:ext cx="4206240" cy="786384"/>
          </a:xfrm>
          <a:prstGeom prst="roundRect">
            <a:avLst/>
          </a:prstGeom>
          <a:solidFill>
            <a:srgbClr val="0E1E34"/>
          </a:solidFill>
          <a:ln w="12700">
            <a:solidFill>
              <a:srgbClr val="00C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5559552"/>
            <a:ext cx="3931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0C896"/>
                </a:solidFill>
                <a:latin typeface="Segoe UI"/>
              </a:rPr>
              <a:t>🔒 Sin datos sensibles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5504688"/>
            <a:ext cx="6217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EAF1FB"/>
                </a:solidFill>
                <a:latin typeface="Segoe UI"/>
              </a:rPr>
              <a:t>Dataset sintético, sin nombres de clientes. Reemplazable por la cartera real de la empresa.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52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v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1848" y="1051560"/>
            <a:ext cx="914400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28600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>
                <a:solidFill>
                  <a:srgbClr val="EAF1FB"/>
                </a:solidFill>
                <a:latin typeface="Segoe UI"/>
              </a:rPr>
              <a:t>Convierta su cartera en recupero.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38328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>
                <a:solidFill>
                  <a:srgbClr val="00C896"/>
                </a:solidFill>
                <a:latin typeface="Segoe UI"/>
              </a:rPr>
              <a:t>MV Kobra AI · Cobranzas Inteligentes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0624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9DB0C8"/>
                </a:solidFill>
                <a:latin typeface="Segoe UI"/>
              </a:rPr>
              <a:t>Demo lista para ejecutar · Solicite una prueba con su propia cartera.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