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880360"/>
            <a:ext cx="12191695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00C896"/>
                </a:solidFill>
                <a:latin typeface="Segoe UI"/>
              </a:rPr>
              <a:t>🐍 Kobra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0">
                <a:solidFill>
                  <a:srgbClr val="F5F6FA"/>
                </a:solidFill>
                <a:latin typeface="Segoe UI"/>
              </a:rPr>
              <a:t>Plataforma de Cobranzas Inteligente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9AA4B2"/>
                </a:solidFill>
                <a:latin typeface="Segoe UI"/>
              </a:rPr>
              <a:t>ProbPago · Agente IA Negociador · Priorización por valor esperado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AA4B2"/>
                </a:solidFill>
                <a:latin typeface="Segoe UI"/>
              </a:rPr>
              <a:t>Propuesta gerencial · Uruguay · Demo con datos sintéticos (sin datos de clientes)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6FA"/>
                </a:solidFill>
                <a:latin typeface="Segoe UI"/>
              </a:rPr>
              <a:t>El problema de la cobranza tradicional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9AA4B2"/>
                </a:solidFill>
                <a:latin typeface="Segoe UI"/>
              </a:rPr>
              <a:t>▸  Se gestiona por igual a todos los deudores → se malgasta tiempo en casos irrecuperables.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AA4B2"/>
                </a:solidFill>
                <a:latin typeface="Segoe UI"/>
              </a:rPr>
              <a:t>▸  Las decisiones de descuento y planes se toman "a ojo", sin datos.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AA4B2"/>
                </a:solidFill>
                <a:latin typeface="Segoe UI"/>
              </a:rPr>
              <a:t>▸  No se sabe a quién llamar primero ni por qué canal.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AA4B2"/>
                </a:solidFill>
                <a:latin typeface="Segoe UI"/>
              </a:rPr>
              <a:t>▸  Los guiones de negociación no están estandarizados ni optimizados.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9AA4B2"/>
                </a:solidFill>
                <a:latin typeface="Segoe UI"/>
              </a:rPr>
              <a:t>▸  El reporting gerencial es lento, manual y poco accionable.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DCB6E"/>
                </a:solidFill>
                <a:latin typeface="Segoe UI"/>
              </a:rPr>
              <a:t>Resultado: menor recupero, más costo operativo y peor experiencia del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6FA"/>
                </a:solidFill>
                <a:latin typeface="Segoe UI"/>
              </a:rPr>
              <a:t>La solución: Kobra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66160" cy="38404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C896"/>
                </a:solidFill>
                <a:latin typeface="Segoe UI"/>
              </a:rPr>
              <a:t>🧠 ProbPago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6FA"/>
                </a:solidFill>
                <a:latin typeface="Segoe UI"/>
              </a:rPr>
              <a:t>Modelo de Machine Learning que estima la probabilidad de pago de cada deudor.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C896"/>
                </a:solidFill>
                <a:latin typeface="Segoe UI"/>
              </a:rPr>
              <a:t>AUC 0.8705 · Lift 1.69x en el top decil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3566160" cy="38404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C5CE7"/>
                </a:solidFill>
                <a:latin typeface="Segoe UI"/>
              </a:rPr>
              <a:t>🤖 Agente + Copiloto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20040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6FA"/>
                </a:solidFill>
                <a:latin typeface="Segoe UI"/>
              </a:rPr>
              <a:t>Recomienda estrategia, descuento, canal y guion. En vivo: analiza el sentimiento del cliente (voz/WhatsApp) y asesora al gestor en tiempo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50292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C5CE7"/>
                </a:solidFill>
                <a:latin typeface="Segoe UI"/>
              </a:rPr>
              <a:t>Maximiza recupero minimizando la quita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566160" cy="384048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FDC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2402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DCB6E"/>
                </a:solidFill>
                <a:latin typeface="Segoe UI"/>
              </a:rPr>
              <a:t>📊 Dashboard Gerencial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F6FA"/>
                </a:solidFill>
                <a:latin typeface="Segoe UI"/>
              </a:rPr>
              <a:t>KPIs, filtros, gráficos y priorización de cartera por valor esperado de recupero.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0292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DCB6E"/>
                </a:solidFill>
                <a:latin typeface="Segoe UI"/>
              </a:rPr>
              <a:t>Exportable a Excel / CSV para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6FA"/>
                </a:solidFill>
                <a:latin typeface="Segoe UI"/>
              </a:rPr>
              <a:t>Cómo funciona · flujo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926080" cy="749808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2996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C896"/>
                </a:solidFill>
                <a:latin typeface="Segoe UI"/>
              </a:rPr>
              <a:t>1 · Cartera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2029968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Segoe UI"/>
              </a:rPr>
              <a:t>Se carga la base de deudores (o se conecta al core).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16352"/>
            <a:ext cx="2926080" cy="749808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C5CE7"/>
                </a:solidFill>
                <a:latin typeface="Segoe UI"/>
              </a:rPr>
              <a:t>2 · ProbPago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9260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Segoe UI"/>
              </a:rPr>
              <a:t>El modelo asigna probabilidad de pago a cada caso.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12464"/>
            <a:ext cx="2926080" cy="749808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FDC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2219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DCB6E"/>
                </a:solidFill>
                <a:latin typeface="Segoe UI"/>
              </a:rPr>
              <a:t>3 · Negociador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822192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Segoe UI"/>
              </a:rPr>
              <a:t>Define estrategia, descuento, canal y guion.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608576"/>
            <a:ext cx="2926080" cy="749808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18304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C896"/>
                </a:solidFill>
                <a:latin typeface="Segoe UI"/>
              </a:rPr>
              <a:t>4 · Priorización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718304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Segoe UI"/>
              </a:rPr>
              <a:t>Ordena por valor esperado de recupero (UYU).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04688"/>
            <a:ext cx="2926080" cy="749808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14416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C5CE7"/>
                </a:solidFill>
                <a:latin typeface="Segoe UI"/>
              </a:rPr>
              <a:t>5 · Acción +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5614416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6FA"/>
                </a:solidFill>
                <a:latin typeface="Segoe UI"/>
              </a:rPr>
              <a:t>Gestores ejecutan; gerencia mide en el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6FA"/>
                </a:solidFill>
                <a:latin typeface="Segoe UI"/>
              </a:rPr>
              <a:t>Impacto sobre la cartera (demo)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66160" cy="173736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C896"/>
                </a:solidFill>
                <a:latin typeface="Segoe UI"/>
              </a:rPr>
              <a:t>12,000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A4B2"/>
                </a:solidFill>
                <a:latin typeface="Segoe UI"/>
              </a:rPr>
              <a:t>Deudores analizados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920240"/>
            <a:ext cx="3566160" cy="173736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5F6FA"/>
                </a:solidFill>
                <a:latin typeface="Segoe UI"/>
              </a:rPr>
              <a:t>$U 1,790.0M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0632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A4B2"/>
                </a:solidFill>
                <a:latin typeface="Segoe UI"/>
              </a:rPr>
              <a:t>Cartera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920240"/>
            <a:ext cx="3566160" cy="173736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C896"/>
                </a:solidFill>
                <a:latin typeface="Segoe UI"/>
              </a:rPr>
              <a:t>$U 868.9M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A4B2"/>
                </a:solidFill>
                <a:latin typeface="Segoe UI"/>
              </a:rPr>
              <a:t>Recupero esperado (49%)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566160" cy="173736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6C5CE7"/>
                </a:solidFill>
                <a:latin typeface="Segoe UI"/>
              </a:rPr>
              <a:t>59%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A4B2"/>
                </a:solidFill>
                <a:latin typeface="Segoe UI"/>
              </a:rPr>
              <a:t>ProbPago promedio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931920"/>
            <a:ext cx="3566160" cy="173736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206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DCB6E"/>
                </a:solidFill>
                <a:latin typeface="Segoe UI"/>
              </a:rPr>
              <a:t>$U 621.4M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074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A4B2"/>
                </a:solidFill>
                <a:latin typeface="Segoe UI"/>
              </a:rPr>
              <a:t>Cartera en riesgo (baja prop.)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931920"/>
            <a:ext cx="3566160" cy="173736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C896"/>
                </a:solidFill>
                <a:latin typeface="Segoe UI"/>
              </a:rPr>
              <a:t>1.69x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74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A4B2"/>
                </a:solidFill>
                <a:latin typeface="Segoe UI"/>
              </a:rPr>
              <a:t>Lift del top decil vs.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AA4B2"/>
                </a:solidFill>
                <a:latin typeface="Segoe UI"/>
              </a:rPr>
              <a:t>Priorizando por ProbPago, el equipo concentra el esfuerzo donde está el valor recuperable.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Dashboard · Visión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KPIs en vivo, filtros dinámicos y gráficos de cartera vs. recupero.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512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Agente IA Negociador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Estrategias recomendadas y simulador de negociación con guion por deudor.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negoci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512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Cartera priorizada +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Ranking por valor esperado y exportación a Excel/CSV para reporting.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cart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512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Copiloto de Negociación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Sentimiento del cliente turno a turno, técnicas del gestor y la próxima jugada sugerida.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copiloto_deta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68294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Asistencia en vivo durante la llamada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Escucha la llamada telefónica, transcribe y asesora al gestor en tiempo real.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time_copil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28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Voz: diarización + emoción acústica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Separa quién habla y detecta la tensión del cliente en la voz, más allá de las palabras.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voz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7170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Integración telefónica + transcripción por hablante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Conecta al audio de la central (Avaya, Genesys…); transcribe por hablante y fusiona voz + texto.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time_telefo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82535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C896"/>
                </a:solidFill>
                <a:latin typeface="Segoe UI"/>
              </a:rPr>
              <a:t>Gestores &amp;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Impacto de Kobra en calidad, conversión y recupero; evolución mes a mes por gestor.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5074920"/>
          </a:xfrm>
          <a:prstGeom prst="roundRect">
            <a:avLst/>
          </a:prstGeom>
          <a:noFill/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gest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27080" cy="95611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6FA"/>
                </a:solidFill>
                <a:latin typeface="Segoe UI"/>
              </a:rPr>
              <a:t>Impacto de Kobra en la gestión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AA4B2"/>
                </a:solidFill>
                <a:latin typeface="Segoe UI"/>
              </a:rPr>
              <a:t>Gestores que usan Kobra vs. grupo de control (mismo período)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3566160" cy="21945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00C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00C896"/>
                </a:solidFill>
                <a:latin typeface="Segoe UI"/>
              </a:rPr>
              <a:t>+10.2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A4B2"/>
                </a:solidFill>
                <a:latin typeface="Segoe UI"/>
              </a:rPr>
              <a:t>puntos de calidad de gestión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77440"/>
            <a:ext cx="3566160" cy="21945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8803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6C5CE7"/>
                </a:solidFill>
                <a:latin typeface="Segoe UI"/>
              </a:rPr>
              <a:t>+6.8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931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A4B2"/>
                </a:solidFill>
                <a:latin typeface="Segoe UI"/>
              </a:rPr>
              <a:t>tasa de conversión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377440"/>
            <a:ext cx="3566160" cy="2194560"/>
          </a:xfrm>
          <a:prstGeom prst="roundRect">
            <a:avLst/>
          </a:prstGeom>
          <a:solidFill>
            <a:srgbClr val="1A1F2E"/>
          </a:solidFill>
          <a:ln w="12700">
            <a:solidFill>
              <a:srgbClr val="FDC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88036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DCB6E"/>
                </a:solidFill>
                <a:latin typeface="Segoe UI"/>
              </a:rPr>
              <a:t>+5.1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93192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A4B2"/>
                </a:solidFill>
                <a:latin typeface="Segoe UI"/>
              </a:rPr>
              <a:t>tasa de recupero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5F6FA"/>
                </a:solidFill>
                <a:latin typeface="Segoe UI"/>
              </a:rPr>
              <a:t>Con Kobra: calidad 70 · conversión 68% · recupero 45%   |   Sin Kobra: calidad 60 · conversión 62% · recupero 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0C896"/>
                </a:solidFill>
                <a:latin typeface="Segoe UI"/>
              </a:rPr>
              <a:t>Y la mejora se sostiene y crece mes a mes con la adopción de las herramientas.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6FA"/>
                </a:solidFill>
                <a:latin typeface="Segoe UI"/>
              </a:rPr>
              <a:t>Por qué Kobra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137160" cy="640080"/>
          </a:xfrm>
          <a:prstGeom prst="round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Más recupero: prioriza por valor esperado, no por antigüedad de la deuda.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Asistencia en vivo: análisis de sentimiento de voz/WhatsApp que guía al gestor en la negociación.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Menos costo: automatiza estrategia y guiones; el gestor solo ejecuta.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Decisiones con datos: ML de probabilidad de pago con selección de modelos y calibración.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Listo para Uruguay: pensado para el mercado local, sin datos personales sensibles.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00C896"/>
                </a:solidFill>
                <a:latin typeface="Segoe UI"/>
              </a:rPr>
              <a:t>▸  Agnóstico de industria: banca, financieras, retail, telco, utilities, fintech.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5F6FA"/>
                </a:solidFill>
                <a:latin typeface="Segoe UI"/>
              </a:rPr>
              <a:t>Convierta su cartera en recupero.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0C896"/>
                </a:solidFill>
                <a:latin typeface="Segoe UI"/>
              </a:rPr>
              <a:t>🐍 Kobra · Cobranzas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AA4B2"/>
                </a:solidFill>
                <a:latin typeface="Segoe UI"/>
              </a:rPr>
              <a:t>Demo lista para ejecutar · Solicite una prueba con su propia cartera.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